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5278934"/>
            <a:ext cx="7658100" cy="1121866"/>
          </a:xfrm>
          <a:prstGeom prst="rect">
            <a:avLst/>
          </a:prstGeom>
          <a:ln/>
          <a:effectLst>
            <a:outerShdw sx="100000" sy="100000" kx="0" ky="0" algn="bl" rotWithShape="0" blurRad="228600" dist="190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b="1" spc="-93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OpenKM — Low-Data Translator for Transport</a:t>
            </a:r>
            <a:endParaRPr lang="en-US" sz="4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4876800" cy="5438775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734300" y="457200"/>
            <a:ext cx="4038600" cy="75991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2"/>
              </a:lnSpc>
              <a:spcAft>
                <a:spcPts val="1200"/>
              </a:spcAft>
              <a:buNone/>
            </a:pPr>
            <a:r>
              <a:rPr lang="en-US" sz="2850" b="1" spc="-57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gap in Cape Town mobility</a:t>
            </a:r>
            <a:endParaRPr lang="en-US" sz="2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00" y="1369516"/>
            <a:ext cx="4038600" cy="60007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877175" y="1379041"/>
            <a:ext cx="3895725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800"/>
              </a:spcAft>
              <a:buNone/>
            </a:pPr>
            <a:r>
              <a:rPr lang="en-US" sz="11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Informal feeders lose 25% downtime to punctures, no data, no safety net. City needs integration without owning the fleet.</a:t>
            </a:r>
            <a:endParaRPr lang="en-US" sz="1125" dirty="0"/>
          </a:p>
        </p:txBody>
      </p:sp>
      <p:sp>
        <p:nvSpPr>
          <p:cNvPr id="7" name="Shape 3"/>
          <p:cNvSpPr/>
          <p:nvPr/>
        </p:nvSpPr>
        <p:spPr>
          <a:xfrm>
            <a:off x="7734300" y="22002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425A73">
              <a:alpha val="12000"/>
            </a:srgbClr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867650" y="23336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 txBox="1"/>
          <p:nvPr/>
        </p:nvSpPr>
        <p:spPr>
          <a:xfrm>
            <a:off x="8096250" y="2207716"/>
            <a:ext cx="367665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Mountainside 15% grades</a:t>
            </a:r>
            <a:pPr indent="0" marL="0">
              <a:buNone/>
            </a:pPr>
            <a:r>
              <a:rPr lang="en-US" sz="1125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kill cheap e-bikes — motor overheat, battery stranded at 60%</a:t>
            </a:r>
            <a:endParaRPr lang="en-US" sz="1125" dirty="0"/>
          </a:p>
        </p:txBody>
      </p:sp>
      <p:sp>
        <p:nvSpPr>
          <p:cNvPr id="10" name="Shape 6"/>
          <p:cNvSpPr/>
          <p:nvPr/>
        </p:nvSpPr>
        <p:spPr>
          <a:xfrm>
            <a:off x="7734300" y="275272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425A73">
              <a:alpha val="12000"/>
            </a:srgbClr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867650" y="288607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 txBox="1"/>
          <p:nvPr/>
        </p:nvSpPr>
        <p:spPr>
          <a:xfrm>
            <a:off x="8096250" y="2760166"/>
            <a:ext cx="367665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Punctures = rider stuck</a:t>
            </a:r>
            <a:pPr indent="0" marL="0">
              <a:buNone/>
            </a:pPr>
            <a:r>
              <a:rPr lang="en-US" sz="1125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Mountain Road, no roadside repair, taxi rank missed</a:t>
            </a:r>
            <a:endParaRPr lang="en-US" sz="1125" dirty="0"/>
          </a:p>
        </p:txBody>
      </p:sp>
      <p:sp>
        <p:nvSpPr>
          <p:cNvPr id="13" name="Shape 9"/>
          <p:cNvSpPr/>
          <p:nvPr/>
        </p:nvSpPr>
        <p:spPr>
          <a:xfrm>
            <a:off x="7734300" y="33051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425A73">
              <a:alpha val="12000"/>
            </a:srgbClr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867650" y="34385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 txBox="1"/>
          <p:nvPr/>
        </p:nvSpPr>
        <p:spPr>
          <a:xfrm>
            <a:off x="8096250" y="3312616"/>
            <a:ext cx="367665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MyCiTi feeder gap 0.8-2km</a:t>
            </a:r>
            <a:pPr indent="0" marL="0">
              <a:buNone/>
            </a:pPr>
            <a:r>
              <a:rPr lang="en-US" sz="1125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uncovered, taxi queue risky after dark</a:t>
            </a:r>
            <a:endParaRPr lang="en-US" sz="1125" dirty="0"/>
          </a:p>
        </p:txBody>
      </p:sp>
      <p:sp>
        <p:nvSpPr>
          <p:cNvPr id="16" name="Shape 12"/>
          <p:cNvSpPr/>
          <p:nvPr/>
        </p:nvSpPr>
        <p:spPr>
          <a:xfrm>
            <a:off x="7734300" y="385762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425A73">
              <a:alpha val="12000"/>
            </a:srgb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7650" y="399097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8096250" y="3865066"/>
            <a:ext cx="367665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open km standard</a:t>
            </a:r>
            <a:pPr indent="0" marL="0">
              <a:buNone/>
            </a:pPr>
            <a:r>
              <a:rPr lang="en-US" sz="1125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calculate cost per km or side-road patch savings</a:t>
            </a:r>
            <a:endParaRPr lang="en-US" sz="1125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4522291"/>
            <a:ext cx="4038600" cy="5332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734300" y="4907012"/>
            <a:ext cx="863054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672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25%</a:t>
            </a:r>
            <a:pPr indent="0" marL="0">
              <a:buNone/>
            </a:pPr>
            <a:r>
              <a:rPr lang="en-US" sz="900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downtime today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787854" y="4907012"/>
            <a:ext cx="902196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672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km audited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9880550" y="4907012"/>
            <a:ext cx="707678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672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15%</a:t>
            </a:r>
            <a:pPr indent="0" marL="0">
              <a:buNone/>
            </a:pPr>
            <a:r>
              <a:rPr lang="en-US" sz="900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barrier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319213"/>
            <a:ext cx="6046440" cy="923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Solution is a </a:t>
            </a:r>
            <a:pPr indent="0" marL="0">
              <a:buNone/>
            </a:pPr>
            <a:r>
              <a:rPr lang="en-US" sz="3600" b="1" spc="-72" kern="0" dirty="0">
                <a:solidFill>
                  <a:srgbClr val="16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translator,</a:t>
            </a:r>
            <a:pPr indent="0" marL="0">
              <a:buNone/>
            </a:pPr>
            <a:r>
              <a:rPr lang="en-US" sz="3600" b="1" spc="-72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not another fleet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376488"/>
            <a:ext cx="6046440" cy="6625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0575" y="2386013"/>
            <a:ext cx="5865465" cy="65305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not own — Gordon's Bay pilot at Checkers hubs. One open km standard that translates informal, e-bike, MyCiTi, taxi and fuel costs to patch side roads and fund safe feeder hubs.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240" y="1319213"/>
            <a:ext cx="4469160" cy="127396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3265" y="1528763"/>
            <a:ext cx="406911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km = base × method × </a:t>
            </a:r>
            <a:pPr indent="0" marL="0">
              <a:buNone/>
            </a:pPr>
            <a:r>
              <a:rPr lang="en-US" sz="1350" b="1" spc="-13" kern="0" dirty="0">
                <a:solidFill>
                  <a:srgbClr val="16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index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7313265" y="1852612"/>
            <a:ext cx="4069110" cy="559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Bef>
                <a:spcPts val="600"/>
              </a:spcBef>
              <a:buNone/>
            </a:pPr>
            <a:r>
              <a:rPr lang="en-US" sz="1013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Low-data SQLite + GPS. Works offline, syncs at hub WiFi. Any network translated to same cost per km. City pays per feeder km, not per bike.</a:t>
            </a:r>
            <a:endParaRPr lang="en-US" sz="101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439120"/>
            <a:ext cx="3543300" cy="209966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19150" y="36480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415C76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990600" y="38195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 txBox="1"/>
          <p:nvPr/>
        </p:nvSpPr>
        <p:spPr>
          <a:xfrm>
            <a:off x="828675" y="4134445"/>
            <a:ext cx="3105150" cy="1827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spc="-18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Low-data SQLite core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828675" y="4393406"/>
            <a:ext cx="3105150" cy="559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02A3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2-sec GPS ping, offline cache, 14kb per trip. No signal needed at rank. Anonymous ID, 100m rounding for privacy.</a:t>
            </a:r>
            <a:endParaRPr lang="en-US" sz="1013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5067300"/>
            <a:ext cx="782836" cy="27146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23925" y="5133975"/>
            <a:ext cx="59233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</a:t>
            </a:r>
            <a:endParaRPr lang="en-US" sz="8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711" y="5067300"/>
            <a:ext cx="780157" cy="27146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782961" y="5133975"/>
            <a:ext cx="58965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IP65 sealed</a:t>
            </a:r>
            <a:endParaRPr lang="en-US" sz="825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350" y="3439120"/>
            <a:ext cx="3543300" cy="2099667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533900" y="36480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6726E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4705350" y="38195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2"/>
          <p:cNvSpPr txBox="1"/>
          <p:nvPr/>
        </p:nvSpPr>
        <p:spPr>
          <a:xfrm>
            <a:off x="4543425" y="4134445"/>
            <a:ext cx="3105150" cy="1827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spc="-18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Checkers hub share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4543425" y="4393406"/>
            <a:ext cx="3105150" cy="559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02A3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 LED, CCTV, security, roof already paid. DropBox bolted to wall, battery cabinet metal ventilated. No new build.</a:t>
            </a:r>
            <a:endParaRPr lang="en-US" sz="1013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5" y="5067300"/>
            <a:ext cx="838349" cy="271463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638675" y="5133975"/>
            <a:ext cx="64784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sites ready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7974" y="5067300"/>
            <a:ext cx="795486" cy="271463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553224" y="5133975"/>
            <a:ext cx="60498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cost</a:t>
            </a:r>
            <a:endParaRPr lang="en-US" sz="825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9100" y="3439120"/>
            <a:ext cx="3543300" cy="2099667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8248650" y="36480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202A33"/>
          </a:solidFill>
          <a:ln/>
        </p:spPr>
      </p:sp>
      <p:sp>
        <p:nvSpPr>
          <p:cNvPr id="28" name="Text 17"/>
          <p:cNvSpPr txBox="1"/>
          <p:nvPr/>
        </p:nvSpPr>
        <p:spPr>
          <a:xfrm>
            <a:off x="8420100" y="38195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18"/>
          <p:cNvSpPr txBox="1"/>
          <p:nvPr/>
        </p:nvSpPr>
        <p:spPr>
          <a:xfrm>
            <a:off x="8258175" y="4134445"/>
            <a:ext cx="3105150" cy="1827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spc="-18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 not own jobs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8258175" y="4393406"/>
            <a:ext cx="3105150" cy="5595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02A3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Controller = TapCard agent + maintenance + safety trainer. Taxi rank partnership not competition. 3 jobs per hub.</a:t>
            </a:r>
            <a:endParaRPr lang="en-US" sz="1013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8175" y="5067300"/>
            <a:ext cx="1048643" cy="271463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353425" y="5133975"/>
            <a:ext cx="85814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Micro-enterprise</a:t>
            </a:r>
            <a:endParaRPr lang="en-US" sz="825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3018" y="5067300"/>
            <a:ext cx="983010" cy="271463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9478268" y="5133975"/>
            <a:ext cx="79251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15-min onboard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25200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Fleet dual — built for Gordon's Bay</a:t>
            </a:r>
            <a:endParaRPr lang="en-US" sz="31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52500"/>
            <a:ext cx="1112520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F2933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HillClimber for Mountainside, CiTiDriver for flat MyCiTi feeders. Same OS, same odometer, same safety.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362075"/>
            <a:ext cx="5476875" cy="44672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2475" y="1609725"/>
            <a:ext cx="1197025" cy="39796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425" b="1" spc="-21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HillClimber</a:t>
            </a:r>
            <a:endParaRPr lang="en-US" sz="1425" dirty="0"/>
          </a:p>
          <a:p>
            <a:pPr algn="l" indent="0" marL="0">
              <a:lnSpc>
                <a:spcPts val="1568"/>
              </a:lnSpc>
              <a:buNone/>
            </a:pPr>
            <a:r>
              <a:rPr lang="en-US" sz="1425" b="1" spc="-21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Mountainside</a:t>
            </a:r>
            <a:endParaRPr lang="en-US" sz="14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393" y="1609725"/>
            <a:ext cx="792807" cy="25241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93643" y="1666875"/>
            <a:ext cx="60230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GRADE</a:t>
            </a:r>
            <a:endParaRPr lang="en-US" sz="82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141041"/>
            <a:ext cx="5038725" cy="40957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42950" y="2200275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847725" y="23050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 txBox="1"/>
          <p:nvPr/>
        </p:nvSpPr>
        <p:spPr>
          <a:xfrm>
            <a:off x="1076325" y="2245816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26" 85Nm mid-drive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625Wh + spare, motor derate 80°C</a:t>
            </a:r>
            <a:endParaRPr lang="en-US" sz="97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550616"/>
            <a:ext cx="5038725" cy="40957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42950" y="260985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847725" y="27146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 txBox="1"/>
          <p:nvPr/>
        </p:nvSpPr>
        <p:spPr>
          <a:xfrm>
            <a:off x="1076325" y="2655391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180mm hydraulic disc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low-gear both-brakes weight-back protocol</a:t>
            </a:r>
            <a:endParaRPr lang="en-US" sz="97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960191"/>
            <a:ext cx="5038725" cy="40957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42950" y="3019425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847725" y="312420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 txBox="1"/>
          <p:nvPr/>
        </p:nvSpPr>
        <p:spPr>
          <a:xfrm>
            <a:off x="1076325" y="3064966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Tannus 100% airless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puncture proof, 5,000km rated</a:t>
            </a:r>
            <a:endParaRPr lang="en-US" sz="975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369766"/>
            <a:ext cx="5038725" cy="40957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42950" y="342900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847725" y="353377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5"/>
          <p:cNvSpPr txBox="1"/>
          <p:nvPr/>
        </p:nvSpPr>
        <p:spPr>
          <a:xfrm>
            <a:off x="1076325" y="3474541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 sealed IP65 + OpenKM GPS dual odometer</a:t>
            </a:r>
            <a:endParaRPr lang="en-US" sz="975" dirty="0"/>
          </a:p>
        </p:txBody>
      </p:sp>
      <p:sp>
        <p:nvSpPr>
          <p:cNvPr id="24" name="Shape 16"/>
          <p:cNvSpPr/>
          <p:nvPr/>
        </p:nvSpPr>
        <p:spPr>
          <a:xfrm>
            <a:off x="742950" y="3838575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847725" y="39433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8"/>
          <p:cNvSpPr txBox="1"/>
          <p:nvPr/>
        </p:nvSpPr>
        <p:spPr>
          <a:xfrm>
            <a:off x="1076325" y="3884116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Wet Grip StrapOn compatible — 60-sec V-tread</a:t>
            </a:r>
            <a:endParaRPr lang="en-US" sz="975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329238"/>
            <a:ext cx="5038725" cy="31908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09625" y="5500688"/>
            <a:ext cx="63668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 units pilot</a:t>
            </a:r>
            <a:endParaRPr lang="en-US" sz="825" dirty="0"/>
          </a:p>
        </p:txBody>
      </p:sp>
      <p:sp>
        <p:nvSpPr>
          <p:cNvPr id="29" name="Text 20"/>
          <p:cNvSpPr txBox="1"/>
          <p:nvPr/>
        </p:nvSpPr>
        <p:spPr>
          <a:xfrm>
            <a:off x="742950" y="55340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1"/>
          <p:cNvSpPr txBox="1"/>
          <p:nvPr/>
        </p:nvSpPr>
        <p:spPr>
          <a:xfrm>
            <a:off x="1617762" y="5500688"/>
            <a:ext cx="62522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Swap at hub</a:t>
            </a:r>
            <a:endParaRPr lang="en-US" sz="825" dirty="0"/>
          </a:p>
        </p:txBody>
      </p:sp>
      <p:sp>
        <p:nvSpPr>
          <p:cNvPr id="31" name="Text 22"/>
          <p:cNvSpPr txBox="1"/>
          <p:nvPr/>
        </p:nvSpPr>
        <p:spPr>
          <a:xfrm>
            <a:off x="1552575" y="55340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725" y="1362075"/>
            <a:ext cx="5476875" cy="446722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400800" y="1609725"/>
            <a:ext cx="865882" cy="39796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425" b="1" spc="-21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CiTiDriver</a:t>
            </a:r>
            <a:endParaRPr lang="en-US" sz="1425" dirty="0"/>
          </a:p>
          <a:p>
            <a:pPr algn="l" indent="0" marL="0">
              <a:lnSpc>
                <a:spcPts val="1568"/>
              </a:lnSpc>
              <a:buNone/>
            </a:pPr>
            <a:r>
              <a:rPr lang="en-US" sz="1425" b="1" spc="-21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Feeder</a:t>
            </a:r>
            <a:endParaRPr lang="en-US" sz="1425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9916" y="1609725"/>
            <a:ext cx="919609" cy="252413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615166" y="1666875"/>
            <a:ext cx="72910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6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0.8-2KM FLAT</a:t>
            </a:r>
            <a:endParaRPr lang="en-US" sz="825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141041"/>
            <a:ext cx="5038725" cy="409575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6391275" y="2200275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38" name="Text 26"/>
          <p:cNvSpPr txBox="1"/>
          <p:nvPr/>
        </p:nvSpPr>
        <p:spPr>
          <a:xfrm>
            <a:off x="6496050" y="23050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7"/>
          <p:cNvSpPr txBox="1"/>
          <p:nvPr/>
        </p:nvSpPr>
        <p:spPr>
          <a:xfrm>
            <a:off x="6724650" y="2245816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700c 65Nm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625Wh, efficient on flat MyCiTi</a:t>
            </a:r>
            <a:endParaRPr lang="en-US" sz="975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550616"/>
            <a:ext cx="5038725" cy="409575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6391275" y="260985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42" name="Text 29"/>
          <p:cNvSpPr txBox="1"/>
          <p:nvPr/>
        </p:nvSpPr>
        <p:spPr>
          <a:xfrm>
            <a:off x="6496050" y="27146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0"/>
          <p:cNvSpPr txBox="1"/>
          <p:nvPr/>
        </p:nvSpPr>
        <p:spPr>
          <a:xfrm>
            <a:off x="6724650" y="2655391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160mm hydraulic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weekly QR log, brake cut-off</a:t>
            </a:r>
            <a:endParaRPr lang="en-US" sz="975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960191"/>
            <a:ext cx="5038725" cy="409575"/>
          </a:xfrm>
          <a:prstGeom prst="rect">
            <a:avLst/>
          </a:prstGeom>
        </p:spPr>
      </p:pic>
      <p:sp>
        <p:nvSpPr>
          <p:cNvPr id="45" name="Shape 31"/>
          <p:cNvSpPr/>
          <p:nvPr/>
        </p:nvSpPr>
        <p:spPr>
          <a:xfrm>
            <a:off x="6391275" y="3019425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46" name="Text 32"/>
          <p:cNvSpPr txBox="1"/>
          <p:nvPr/>
        </p:nvSpPr>
        <p:spPr>
          <a:xfrm>
            <a:off x="6496050" y="312420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3"/>
          <p:cNvSpPr txBox="1"/>
          <p:nvPr/>
        </p:nvSpPr>
        <p:spPr>
          <a:xfrm>
            <a:off x="6724650" y="3064966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Tannus airless</a:t>
            </a:r>
            <a:pPr indent="0" marL="0"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0 roadside repairs, 300 days</a:t>
            </a:r>
            <a:endParaRPr lang="en-US" sz="975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369766"/>
            <a:ext cx="5038725" cy="409575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6391275" y="342900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50" name="Text 35"/>
          <p:cNvSpPr txBox="1"/>
          <p:nvPr/>
        </p:nvSpPr>
        <p:spPr>
          <a:xfrm>
            <a:off x="6496050" y="353377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36"/>
          <p:cNvSpPr txBox="1"/>
          <p:nvPr/>
        </p:nvSpPr>
        <p:spPr>
          <a:xfrm>
            <a:off x="6724650" y="3474541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dual odometer, same ESP32-S3 AI brain</a:t>
            </a:r>
            <a:endParaRPr lang="en-US" sz="975" dirty="0"/>
          </a:p>
        </p:txBody>
      </p:sp>
      <p:sp>
        <p:nvSpPr>
          <p:cNvPr id="52" name="Shape 37"/>
          <p:cNvSpPr/>
          <p:nvPr/>
        </p:nvSpPr>
        <p:spPr>
          <a:xfrm>
            <a:off x="6391275" y="3838575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22233">
              <a:alpha val="6000"/>
            </a:srgbClr>
          </a:solidFill>
          <a:ln/>
        </p:spPr>
      </p:sp>
      <p:sp>
        <p:nvSpPr>
          <p:cNvPr id="53" name="Text 38"/>
          <p:cNvSpPr txBox="1"/>
          <p:nvPr/>
        </p:nvSpPr>
        <p:spPr>
          <a:xfrm>
            <a:off x="6496050" y="39433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39"/>
          <p:cNvSpPr txBox="1"/>
          <p:nvPr/>
        </p:nvSpPr>
        <p:spPr>
          <a:xfrm>
            <a:off x="6724650" y="3884116"/>
            <a:ext cx="4714875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 sleeve Wet Grip — for winter slick</a:t>
            </a:r>
            <a:endParaRPr lang="en-US" sz="975" dirty="0"/>
          </a:p>
        </p:txBody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5329238"/>
            <a:ext cx="5038725" cy="319088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6457950" y="5500688"/>
            <a:ext cx="63668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 units pilot</a:t>
            </a:r>
            <a:endParaRPr lang="en-US" sz="825" dirty="0"/>
          </a:p>
        </p:txBody>
      </p:sp>
      <p:sp>
        <p:nvSpPr>
          <p:cNvPr id="57" name="Text 41"/>
          <p:cNvSpPr txBox="1"/>
          <p:nvPr/>
        </p:nvSpPr>
        <p:spPr>
          <a:xfrm>
            <a:off x="6391275" y="55340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2"/>
          <p:cNvSpPr txBox="1"/>
          <p:nvPr/>
        </p:nvSpPr>
        <p:spPr>
          <a:xfrm>
            <a:off x="7266087" y="5500688"/>
            <a:ext cx="89668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25 km/h cap legal</a:t>
            </a:r>
            <a:endParaRPr lang="en-US" sz="825" dirty="0"/>
          </a:p>
        </p:txBody>
      </p:sp>
      <p:sp>
        <p:nvSpPr>
          <p:cNvPr id="59" name="Text 43"/>
          <p:cNvSpPr txBox="1"/>
          <p:nvPr/>
        </p:nvSpPr>
        <p:spPr>
          <a:xfrm>
            <a:off x="7200900" y="55340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44"/>
          <p:cNvSpPr/>
          <p:nvPr/>
        </p:nvSpPr>
        <p:spPr>
          <a:xfrm>
            <a:off x="533400" y="6000750"/>
            <a:ext cx="11125200" cy="400050"/>
          </a:xfrm>
          <a:prstGeom prst="roundRect">
            <a:avLst>
              <a:gd name="adj" fmla="val 28571"/>
            </a:avLst>
          </a:prstGeom>
          <a:solidFill>
            <a:srgbClr val="202A33"/>
          </a:solidFill>
          <a:ln/>
        </p:spPr>
      </p:sp>
      <p:sp>
        <p:nvSpPr>
          <p:cNvPr id="61" name="Text 45"/>
          <p:cNvSpPr txBox="1"/>
          <p:nvPr/>
        </p:nvSpPr>
        <p:spPr>
          <a:xfrm>
            <a:off x="704850" y="6124575"/>
            <a:ext cx="623738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Helmet + high-vis + 400 lumen always-on • Spoke reflectors • Tilt sensor • 2x security shared Checkers</a:t>
            </a:r>
            <a:endParaRPr lang="en-US" sz="900" dirty="0"/>
          </a:p>
        </p:txBody>
      </p:sp>
      <p:sp>
        <p:nvSpPr>
          <p:cNvPr id="62" name="Text 46"/>
          <p:cNvSpPr txBox="1"/>
          <p:nvPr/>
        </p:nvSpPr>
        <p:spPr>
          <a:xfrm>
            <a:off x="10305901" y="6124575"/>
            <a:ext cx="118124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NFC PN532 0.2s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825972"/>
            <a:ext cx="77724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Safety is infrastructure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0" y="1646039"/>
            <a:ext cx="3048000" cy="5598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53475" y="1655564"/>
            <a:ext cx="2905125" cy="5503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measurements enable scale — City approval requirement. No open km released without training flag and QR log.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15480"/>
            <a:ext cx="5495925" cy="133156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3425" y="26003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415C76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16" y="2682180"/>
            <a:ext cx="150019" cy="13335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33475" y="2663130"/>
            <a:ext cx="362396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7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Rider</a:t>
            </a:r>
            <a:endParaRPr lang="en-US" sz="1125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125" y="2639318"/>
            <a:ext cx="492175" cy="21907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13325" y="2686943"/>
            <a:ext cx="33977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16726E"/>
                </a:solidFill>
                <a:highlight>
                  <a:srgbClr val="14766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15-min</a:t>
            </a:r>
            <a:endParaRPr lang="en-US" sz="750" dirty="0"/>
          </a:p>
        </p:txBody>
      </p:sp>
      <p:sp>
        <p:nvSpPr>
          <p:cNvPr id="11" name="Text 5"/>
          <p:cNvSpPr txBox="1"/>
          <p:nvPr/>
        </p:nvSpPr>
        <p:spPr>
          <a:xfrm>
            <a:off x="866775" y="3006030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Helmet, high-vis, 400 lumen always-on</a:t>
            </a:r>
            <a:endParaRPr lang="en-US" sz="960" dirty="0"/>
          </a:p>
        </p:txBody>
      </p:sp>
      <p:sp>
        <p:nvSpPr>
          <p:cNvPr id="12" name="Text 6"/>
          <p:cNvSpPr txBox="1"/>
          <p:nvPr/>
        </p:nvSpPr>
        <p:spPr>
          <a:xfrm>
            <a:off x="733425" y="3063180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sp>
        <p:nvSpPr>
          <p:cNvPr id="13" name="Text 7"/>
          <p:cNvSpPr txBox="1"/>
          <p:nvPr/>
        </p:nvSpPr>
        <p:spPr>
          <a:xfrm>
            <a:off x="866775" y="3218111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km/h cap SA legal, training flag required</a:t>
            </a:r>
            <a:endParaRPr lang="en-US" sz="960" dirty="0"/>
          </a:p>
        </p:txBody>
      </p:sp>
      <p:sp>
        <p:nvSpPr>
          <p:cNvPr id="14" name="Text 8"/>
          <p:cNvSpPr txBox="1"/>
          <p:nvPr/>
        </p:nvSpPr>
        <p:spPr>
          <a:xfrm>
            <a:off x="733425" y="3275261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sp>
        <p:nvSpPr>
          <p:cNvPr id="15" name="Text 9"/>
          <p:cNvSpPr txBox="1"/>
          <p:nvPr/>
        </p:nvSpPr>
        <p:spPr>
          <a:xfrm>
            <a:off x="866775" y="3430191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unlock on 15% grade without Hill pass</a:t>
            </a:r>
            <a:endParaRPr lang="en-US" sz="960" dirty="0"/>
          </a:p>
        </p:txBody>
      </p:sp>
      <p:sp>
        <p:nvSpPr>
          <p:cNvPr id="16" name="Text 10"/>
          <p:cNvSpPr txBox="1"/>
          <p:nvPr/>
        </p:nvSpPr>
        <p:spPr>
          <a:xfrm>
            <a:off x="733425" y="3487341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75" y="2415480"/>
            <a:ext cx="5495925" cy="133156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362700" y="26003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16726E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1756" y="2682180"/>
            <a:ext cx="166688" cy="13335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762750" y="2663130"/>
            <a:ext cx="289173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7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Bike</a:t>
            </a:r>
            <a:endParaRPr lang="en-US" sz="112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1296" y="2639318"/>
            <a:ext cx="377279" cy="21907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157496" y="2686943"/>
            <a:ext cx="22487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16726E"/>
                </a:solidFill>
                <a:highlight>
                  <a:srgbClr val="14766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IP65</a:t>
            </a:r>
            <a:endParaRPr lang="en-US" sz="750" dirty="0"/>
          </a:p>
        </p:txBody>
      </p:sp>
      <p:sp>
        <p:nvSpPr>
          <p:cNvPr id="23" name="Text 14"/>
          <p:cNvSpPr txBox="1"/>
          <p:nvPr/>
        </p:nvSpPr>
        <p:spPr>
          <a:xfrm>
            <a:off x="6496050" y="3006030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180/160mm hydraulic, weekly QR log</a:t>
            </a:r>
            <a:endParaRPr lang="en-US" sz="960" dirty="0"/>
          </a:p>
        </p:txBody>
      </p:sp>
      <p:sp>
        <p:nvSpPr>
          <p:cNvPr id="24" name="Text 15"/>
          <p:cNvSpPr txBox="1"/>
          <p:nvPr/>
        </p:nvSpPr>
        <p:spPr>
          <a:xfrm>
            <a:off x="6362700" y="3063180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sp>
        <p:nvSpPr>
          <p:cNvPr id="25" name="Text 16"/>
          <p:cNvSpPr txBox="1"/>
          <p:nvPr/>
        </p:nvSpPr>
        <p:spPr>
          <a:xfrm>
            <a:off x="6496050" y="3218111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cut-off + tilt sensor, spoke reflectors</a:t>
            </a:r>
            <a:endParaRPr lang="en-US" sz="960" dirty="0"/>
          </a:p>
        </p:txBody>
      </p:sp>
      <p:sp>
        <p:nvSpPr>
          <p:cNvPr id="26" name="Text 17"/>
          <p:cNvSpPr txBox="1"/>
          <p:nvPr/>
        </p:nvSpPr>
        <p:spPr>
          <a:xfrm>
            <a:off x="6362700" y="3275261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sp>
        <p:nvSpPr>
          <p:cNvPr id="27" name="Text 18"/>
          <p:cNvSpPr txBox="1"/>
          <p:nvPr/>
        </p:nvSpPr>
        <p:spPr>
          <a:xfrm>
            <a:off x="6496050" y="3430191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Tannus airless — no roadside repair needed</a:t>
            </a:r>
            <a:endParaRPr lang="en-US" sz="960" dirty="0"/>
          </a:p>
        </p:txBody>
      </p:sp>
      <p:sp>
        <p:nvSpPr>
          <p:cNvPr id="28" name="Text 19"/>
          <p:cNvSpPr txBox="1"/>
          <p:nvPr/>
        </p:nvSpPr>
        <p:spPr>
          <a:xfrm>
            <a:off x="6362700" y="3487341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880396"/>
            <a:ext cx="5495925" cy="1331565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733425" y="405765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202A33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4147096"/>
            <a:ext cx="133350" cy="13335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133475" y="4128046"/>
            <a:ext cx="223242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7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Hill</a:t>
            </a:r>
            <a:endParaRPr lang="en-US" sz="1125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8779" y="4104233"/>
            <a:ext cx="600521" cy="219075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5304979" y="4151858"/>
            <a:ext cx="4481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16726E"/>
                </a:solidFill>
                <a:highlight>
                  <a:srgbClr val="14766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Auto-cut</a:t>
            </a:r>
            <a:endParaRPr lang="en-US" sz="750" dirty="0"/>
          </a:p>
        </p:txBody>
      </p:sp>
      <p:sp>
        <p:nvSpPr>
          <p:cNvPr id="35" name="Text 23"/>
          <p:cNvSpPr txBox="1"/>
          <p:nvPr/>
        </p:nvSpPr>
        <p:spPr>
          <a:xfrm>
            <a:off x="866775" y="4470946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gear, both brakes, weight back protocol</a:t>
            </a:r>
            <a:endParaRPr lang="en-US" sz="960" dirty="0"/>
          </a:p>
        </p:txBody>
      </p:sp>
      <p:sp>
        <p:nvSpPr>
          <p:cNvPr id="36" name="Text 24"/>
          <p:cNvSpPr txBox="1"/>
          <p:nvPr/>
        </p:nvSpPr>
        <p:spPr>
          <a:xfrm>
            <a:off x="733425" y="4528096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sp>
        <p:nvSpPr>
          <p:cNvPr id="37" name="Text 25"/>
          <p:cNvSpPr txBox="1"/>
          <p:nvPr/>
        </p:nvSpPr>
        <p:spPr>
          <a:xfrm>
            <a:off x="866775" y="4683026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speed cut in rain via weather API</a:t>
            </a:r>
            <a:endParaRPr lang="en-US" sz="960" dirty="0"/>
          </a:p>
        </p:txBody>
      </p:sp>
      <p:sp>
        <p:nvSpPr>
          <p:cNvPr id="38" name="Text 26"/>
          <p:cNvSpPr txBox="1"/>
          <p:nvPr/>
        </p:nvSpPr>
        <p:spPr>
          <a:xfrm>
            <a:off x="733425" y="4740176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sp>
        <p:nvSpPr>
          <p:cNvPr id="39" name="Text 27"/>
          <p:cNvSpPr txBox="1"/>
          <p:nvPr/>
        </p:nvSpPr>
        <p:spPr>
          <a:xfrm>
            <a:off x="866775" y="4895106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derate at 80°C, walk assist above 15%</a:t>
            </a:r>
            <a:endParaRPr lang="en-US" sz="960" dirty="0"/>
          </a:p>
        </p:txBody>
      </p:sp>
      <p:sp>
        <p:nvSpPr>
          <p:cNvPr id="40" name="Text 28"/>
          <p:cNvSpPr txBox="1"/>
          <p:nvPr/>
        </p:nvSpPr>
        <p:spPr>
          <a:xfrm>
            <a:off x="733425" y="4952256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675" y="3880396"/>
            <a:ext cx="5495925" cy="1331565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6362700" y="405765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386074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1756" y="4147096"/>
            <a:ext cx="166688" cy="13335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6762750" y="4128046"/>
            <a:ext cx="278606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spc="-17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Hub</a:t>
            </a:r>
            <a:endParaRPr lang="en-US" sz="1125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31116" y="4104233"/>
            <a:ext cx="627459" cy="219075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10907316" y="4151858"/>
            <a:ext cx="47505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30" kern="0" dirty="0">
                <a:solidFill>
                  <a:srgbClr val="16726E"/>
                </a:solidFill>
                <a:highlight>
                  <a:srgbClr val="14766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Checkers</a:t>
            </a:r>
            <a:endParaRPr lang="en-US" sz="750" dirty="0"/>
          </a:p>
        </p:txBody>
      </p:sp>
      <p:sp>
        <p:nvSpPr>
          <p:cNvPr id="47" name="Text 32"/>
          <p:cNvSpPr txBox="1"/>
          <p:nvPr/>
        </p:nvSpPr>
        <p:spPr>
          <a:xfrm>
            <a:off x="6496050" y="4470946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2× security shared Checkers, CCTV solar</a:t>
            </a:r>
            <a:endParaRPr lang="en-US" sz="960" dirty="0"/>
          </a:p>
        </p:txBody>
      </p:sp>
      <p:sp>
        <p:nvSpPr>
          <p:cNvPr id="48" name="Text 33"/>
          <p:cNvSpPr txBox="1"/>
          <p:nvPr/>
        </p:nvSpPr>
        <p:spPr>
          <a:xfrm>
            <a:off x="6362700" y="4528096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sp>
        <p:nvSpPr>
          <p:cNvPr id="49" name="Text 34"/>
          <p:cNvSpPr txBox="1"/>
          <p:nvPr/>
        </p:nvSpPr>
        <p:spPr>
          <a:xfrm>
            <a:off x="6496050" y="4683026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Battery cabinet metal ventilated + smoke + extinguisher</a:t>
            </a:r>
            <a:endParaRPr lang="en-US" sz="960" dirty="0"/>
          </a:p>
        </p:txBody>
      </p:sp>
      <p:sp>
        <p:nvSpPr>
          <p:cNvPr id="50" name="Text 35"/>
          <p:cNvSpPr txBox="1"/>
          <p:nvPr/>
        </p:nvSpPr>
        <p:spPr>
          <a:xfrm>
            <a:off x="6362700" y="4740176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  <p:sp>
        <p:nvSpPr>
          <p:cNvPr id="51" name="Text 36"/>
          <p:cNvSpPr txBox="1"/>
          <p:nvPr/>
        </p:nvSpPr>
        <p:spPr>
          <a:xfrm>
            <a:off x="6496050" y="4895106"/>
            <a:ext cx="4962525" cy="1549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aid, emergency button, offline binder</a:t>
            </a:r>
            <a:endParaRPr lang="en-US" sz="960" dirty="0"/>
          </a:p>
        </p:txBody>
      </p:sp>
      <p:sp>
        <p:nvSpPr>
          <p:cNvPr id="52" name="Text 37"/>
          <p:cNvSpPr txBox="1"/>
          <p:nvPr/>
        </p:nvSpPr>
        <p:spPr>
          <a:xfrm>
            <a:off x="6362700" y="4952256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776436"/>
            <a:ext cx="77724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spc="-57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Odometer + AI chip inside display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51645"/>
            <a:ext cx="7772400" cy="3866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275" y="1261170"/>
            <a:ext cx="7629525" cy="3771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km for service — sealed IP65 for False Bay salt. Open km for business — the translator City can audit. One display, two ledgers.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419100"/>
            <a:ext cx="3048000" cy="1219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595" y="542925"/>
            <a:ext cx="1980009" cy="971401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866900"/>
            <a:ext cx="2667000" cy="171137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047875"/>
            <a:ext cx="266700" cy="2667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58428" y="2097881"/>
            <a:ext cx="203597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3"/>
          <p:cNvSpPr txBox="1"/>
          <p:nvPr/>
        </p:nvSpPr>
        <p:spPr>
          <a:xfrm>
            <a:off x="695325" y="2428875"/>
            <a:ext cx="23431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spc="-16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Hall sensors inside motor</a:t>
            </a:r>
            <a:endParaRPr lang="en-US" sz="1050" dirty="0"/>
          </a:p>
        </p:txBody>
      </p:sp>
      <p:sp>
        <p:nvSpPr>
          <p:cNvPr id="11" name="Text 4"/>
          <p:cNvSpPr txBox="1"/>
          <p:nvPr/>
        </p:nvSpPr>
        <p:spPr>
          <a:xfrm>
            <a:off x="695325" y="2655540"/>
            <a:ext cx="2343150" cy="5083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 Hall in mid-drive + rear wheel Hall backup. No spoke magnet to lose. Sealed IP65 against salt spray.</a:t>
            </a:r>
            <a:endParaRPr lang="en-US" sz="938" dirty="0"/>
          </a:p>
        </p:txBody>
      </p:sp>
      <p:sp>
        <p:nvSpPr>
          <p:cNvPr id="12" name="Text 5"/>
          <p:cNvSpPr txBox="1"/>
          <p:nvPr/>
        </p:nvSpPr>
        <p:spPr>
          <a:xfrm>
            <a:off x="695325" y="3268712"/>
            <a:ext cx="23431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6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Pulse source • 1 rotation = 1 count</a:t>
            </a:r>
            <a:endParaRPr lang="en-US" sz="825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1866900"/>
            <a:ext cx="2667000" cy="1711375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4725" y="2047875"/>
            <a:ext cx="266700" cy="2667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3565624" y="2097881"/>
            <a:ext cx="215801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75" dirty="0"/>
          </a:p>
        </p:txBody>
      </p:sp>
      <p:sp>
        <p:nvSpPr>
          <p:cNvPr id="16" name="Text 7"/>
          <p:cNvSpPr txBox="1"/>
          <p:nvPr/>
        </p:nvSpPr>
        <p:spPr>
          <a:xfrm>
            <a:off x="3514725" y="2428875"/>
            <a:ext cx="23431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spc="-16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MCU CAN bus → EEPROM</a:t>
            </a:r>
            <a:endParaRPr lang="en-US" sz="1050" dirty="0"/>
          </a:p>
        </p:txBody>
      </p:sp>
      <p:sp>
        <p:nvSpPr>
          <p:cNvPr id="17" name="Text 8"/>
          <p:cNvSpPr txBox="1"/>
          <p:nvPr/>
        </p:nvSpPr>
        <p:spPr>
          <a:xfrm>
            <a:off x="3514725" y="2655540"/>
            <a:ext cx="2343150" cy="5083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 converts pulses to km/h using wheel size (26” vs 700c). Total km stored in EEPROM, survives battery removal.</a:t>
            </a:r>
            <a:endParaRPr lang="en-US" sz="938" dirty="0"/>
          </a:p>
        </p:txBody>
      </p:sp>
      <p:sp>
        <p:nvSpPr>
          <p:cNvPr id="18" name="Text 9"/>
          <p:cNvSpPr txBox="1"/>
          <p:nvPr/>
        </p:nvSpPr>
        <p:spPr>
          <a:xfrm>
            <a:off x="3514725" y="3268712"/>
            <a:ext cx="23431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6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ledger</a:t>
            </a:r>
            <a:endParaRPr lang="en-US" sz="825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1866900"/>
            <a:ext cx="2667000" cy="1711375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2047875"/>
            <a:ext cx="266700" cy="2667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6383834" y="2097881"/>
            <a:ext cx="216991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75" dirty="0"/>
          </a:p>
        </p:txBody>
      </p:sp>
      <p:sp>
        <p:nvSpPr>
          <p:cNvPr id="22" name="Text 11"/>
          <p:cNvSpPr txBox="1"/>
          <p:nvPr/>
        </p:nvSpPr>
        <p:spPr>
          <a:xfrm>
            <a:off x="6334125" y="2428875"/>
            <a:ext cx="23431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spc="-16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Display head + GPS open km</a:t>
            </a:r>
            <a:endParaRPr lang="en-US" sz="1050" dirty="0"/>
          </a:p>
        </p:txBody>
      </p:sp>
      <p:sp>
        <p:nvSpPr>
          <p:cNvPr id="23" name="Text 12"/>
          <p:cNvSpPr txBox="1"/>
          <p:nvPr/>
        </p:nvSpPr>
        <p:spPr>
          <a:xfrm>
            <a:off x="6334125" y="2655540"/>
            <a:ext cx="2343150" cy="5083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odo on screen + phone GPS SQLite logs open km offline. Drift check flags maintenance.</a:t>
            </a:r>
            <a:endParaRPr lang="en-US" sz="938" dirty="0"/>
          </a:p>
        </p:txBody>
      </p:sp>
      <p:sp>
        <p:nvSpPr>
          <p:cNvPr id="24" name="Text 13"/>
          <p:cNvSpPr txBox="1"/>
          <p:nvPr/>
        </p:nvSpPr>
        <p:spPr>
          <a:xfrm>
            <a:off x="6334125" y="3268712"/>
            <a:ext cx="23431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6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= HW vs GPS</a:t>
            </a:r>
            <a:endParaRPr lang="en-US" sz="825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1600" y="1866900"/>
            <a:ext cx="2667000" cy="1711375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3525" y="2047875"/>
            <a:ext cx="266700" cy="266700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9201299" y="2097881"/>
            <a:ext cx="218926" cy="2166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75" dirty="0"/>
          </a:p>
        </p:txBody>
      </p:sp>
      <p:sp>
        <p:nvSpPr>
          <p:cNvPr id="28" name="Text 15"/>
          <p:cNvSpPr txBox="1"/>
          <p:nvPr/>
        </p:nvSpPr>
        <p:spPr>
          <a:xfrm>
            <a:off x="9153525" y="2428875"/>
            <a:ext cx="23431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spc="-16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ESP32-S3 0.5W TinyML</a:t>
            </a:r>
            <a:endParaRPr lang="en-US" sz="1050" dirty="0"/>
          </a:p>
        </p:txBody>
      </p:sp>
      <p:sp>
        <p:nvSpPr>
          <p:cNvPr id="29" name="Text 16"/>
          <p:cNvSpPr txBox="1"/>
          <p:nvPr/>
        </p:nvSpPr>
        <p:spPr>
          <a:xfrm>
            <a:off x="9153525" y="2655540"/>
            <a:ext cx="2343150" cy="5083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display: BLE + PN532 NFC same board. Runs 4 brains offline, 0.5W from 36V buck.</a:t>
            </a:r>
            <a:endParaRPr lang="en-US" sz="938" dirty="0"/>
          </a:p>
        </p:txBody>
      </p:sp>
      <p:sp>
        <p:nvSpPr>
          <p:cNvPr id="30" name="Text 17"/>
          <p:cNvSpPr txBox="1"/>
          <p:nvPr/>
        </p:nvSpPr>
        <p:spPr>
          <a:xfrm>
            <a:off x="9153525" y="3268712"/>
            <a:ext cx="23431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6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Phase1 phone NPU, Phase2 open display</a:t>
            </a:r>
            <a:endParaRPr lang="en-US" sz="825" dirty="0"/>
          </a:p>
        </p:txBody>
      </p:sp>
      <p:sp>
        <p:nvSpPr>
          <p:cNvPr id="31" name="Shape 18"/>
          <p:cNvSpPr/>
          <p:nvPr/>
        </p:nvSpPr>
        <p:spPr>
          <a:xfrm>
            <a:off x="533400" y="3790950"/>
            <a:ext cx="11125200" cy="876300"/>
          </a:xfrm>
          <a:prstGeom prst="roundRect">
            <a:avLst>
              <a:gd name="adj" fmla="val 13043"/>
            </a:avLst>
          </a:prstGeom>
          <a:solidFill>
            <a:srgbClr val="EEECE7"/>
          </a:solidFill>
          <a:ln/>
        </p:spPr>
      </p:sp>
      <p:sp>
        <p:nvSpPr>
          <p:cNvPr id="32" name="Shape 19"/>
          <p:cNvSpPr/>
          <p:nvPr/>
        </p:nvSpPr>
        <p:spPr>
          <a:xfrm>
            <a:off x="666750" y="3952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6726E"/>
          </a:solidFill>
          <a:ln/>
        </p:spPr>
      </p:sp>
      <p:sp>
        <p:nvSpPr>
          <p:cNvPr id="33" name="Text 20"/>
          <p:cNvSpPr txBox="1"/>
          <p:nvPr/>
        </p:nvSpPr>
        <p:spPr>
          <a:xfrm>
            <a:off x="819150" y="3902125"/>
            <a:ext cx="2490788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Hill brain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819150" y="4124920"/>
            <a:ext cx="2154138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1F2933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Torque + gradient, derate at 80°C, low gear prompt</a:t>
            </a:r>
            <a:endParaRPr lang="en-US" sz="825" dirty="0"/>
          </a:p>
        </p:txBody>
      </p:sp>
      <p:sp>
        <p:nvSpPr>
          <p:cNvPr id="35" name="Shape 22"/>
          <p:cNvSpPr/>
          <p:nvPr/>
        </p:nvSpPr>
        <p:spPr>
          <a:xfrm>
            <a:off x="3409950" y="3952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415C76"/>
          </a:solidFill>
          <a:ln/>
        </p:spPr>
      </p:sp>
      <p:sp>
        <p:nvSpPr>
          <p:cNvPr id="36" name="Text 23"/>
          <p:cNvSpPr txBox="1"/>
          <p:nvPr/>
        </p:nvSpPr>
        <p:spPr>
          <a:xfrm>
            <a:off x="3557588" y="3902125"/>
            <a:ext cx="2483793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Wet slip brain</a:t>
            </a:r>
            <a:endParaRPr lang="en-US" sz="900" dirty="0"/>
          </a:p>
        </p:txBody>
      </p:sp>
      <p:sp>
        <p:nvSpPr>
          <p:cNvPr id="37" name="Text 24"/>
          <p:cNvSpPr txBox="1"/>
          <p:nvPr/>
        </p:nvSpPr>
        <p:spPr>
          <a:xfrm>
            <a:off x="3557588" y="4124920"/>
            <a:ext cx="248379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1F2933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Wheel vs GPS slip detection → Wet Kit + 20% cap</a:t>
            </a:r>
            <a:endParaRPr lang="en-US" sz="825" dirty="0"/>
          </a:p>
        </p:txBody>
      </p:sp>
      <p:sp>
        <p:nvSpPr>
          <p:cNvPr id="38" name="Shape 25"/>
          <p:cNvSpPr/>
          <p:nvPr/>
        </p:nvSpPr>
        <p:spPr>
          <a:xfrm>
            <a:off x="6143625" y="3952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02A33"/>
          </a:solidFill>
          <a:ln/>
        </p:spPr>
      </p:sp>
      <p:sp>
        <p:nvSpPr>
          <p:cNvPr id="39" name="Text 26"/>
          <p:cNvSpPr txBox="1"/>
          <p:nvPr/>
        </p:nvSpPr>
        <p:spPr>
          <a:xfrm>
            <a:off x="6296025" y="3902125"/>
            <a:ext cx="2490788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brain</a:t>
            </a:r>
            <a:endParaRPr lang="en-US" sz="900" dirty="0"/>
          </a:p>
        </p:txBody>
      </p:sp>
      <p:sp>
        <p:nvSpPr>
          <p:cNvPr id="40" name="Text 27"/>
          <p:cNvSpPr txBox="1"/>
          <p:nvPr/>
        </p:nvSpPr>
        <p:spPr>
          <a:xfrm>
            <a:off x="6296025" y="4124920"/>
            <a:ext cx="2243435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1F2933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 + odo predicts pads, Tannus 5k km, chain</a:t>
            </a:r>
            <a:endParaRPr lang="en-US" sz="825" dirty="0"/>
          </a:p>
        </p:txBody>
      </p:sp>
      <p:sp>
        <p:nvSpPr>
          <p:cNvPr id="41" name="Shape 28"/>
          <p:cNvSpPr/>
          <p:nvPr/>
        </p:nvSpPr>
        <p:spPr>
          <a:xfrm>
            <a:off x="8886825" y="3952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6726E"/>
          </a:solidFill>
          <a:ln/>
        </p:spPr>
      </p:sp>
      <p:sp>
        <p:nvSpPr>
          <p:cNvPr id="42" name="Text 29"/>
          <p:cNvSpPr txBox="1"/>
          <p:nvPr/>
        </p:nvSpPr>
        <p:spPr>
          <a:xfrm>
            <a:off x="9034463" y="3902125"/>
            <a:ext cx="2490788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Theft brain</a:t>
            </a:r>
            <a:endParaRPr lang="en-US" sz="900" dirty="0"/>
          </a:p>
        </p:txBody>
      </p:sp>
      <p:sp>
        <p:nvSpPr>
          <p:cNvPr id="43" name="Text 30"/>
          <p:cNvSpPr txBox="1"/>
          <p:nvPr/>
        </p:nvSpPr>
        <p:spPr>
          <a:xfrm>
            <a:off x="9034463" y="4124920"/>
            <a:ext cx="2108597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1F2933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 movement when locked → buzz hub security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135261"/>
            <a:ext cx="5791200" cy="112930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spc="-60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Wet grip loses,</a:t>
            </a:r>
            <a:endParaRPr lang="en-US" sz="3000" dirty="0"/>
          </a:p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3000" b="1" spc="-60" kern="0" dirty="0">
                <a:solidFill>
                  <a:srgbClr val="16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StrapOn fixes it.</a:t>
            </a:r>
            <a:pPr indent="0" marL="0">
              <a:buNone/>
            </a:pPr>
            <a:r>
              <a:rPr lang="en-US" sz="3000" b="1" spc="-60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NFC makes it offline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378869"/>
            <a:ext cx="5791200" cy="4000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275" y="2388394"/>
            <a:ext cx="5648325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650"/>
              </a:spcAft>
              <a:buNone/>
            </a:pPr>
            <a:r>
              <a:rPr lang="en-US" sz="1125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Airless Tannus is puncture-proof but loses wet grip — Mountainside rain needs extra bite. Hub issues kit, NFC logs it.</a:t>
            </a:r>
            <a:endParaRPr lang="en-US" sz="112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988469"/>
            <a:ext cx="5791200" cy="13480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14375" y="31527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57171">
              <a:alpha val="14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3245644"/>
            <a:ext cx="133350" cy="1524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71575" y="3150394"/>
            <a:ext cx="49720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Aft>
                <a:spcPts val="300"/>
              </a:spcAft>
              <a:buNone/>
            </a:pPr>
            <a:r>
              <a:rPr lang="en-US" sz="1125" b="1" spc="-17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Wet Kit — extra grip strap-on</a:t>
            </a:r>
            <a:endParaRPr lang="en-US" sz="1125" dirty="0"/>
          </a:p>
        </p:txBody>
      </p:sp>
      <p:sp>
        <p:nvSpPr>
          <p:cNvPr id="9" name="Text 4"/>
          <p:cNvSpPr txBox="1"/>
          <p:nvPr/>
        </p:nvSpPr>
        <p:spPr>
          <a:xfrm>
            <a:off x="1171575" y="3362325"/>
            <a:ext cx="4972050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Nylon straps + cleated nails</a:t>
            </a:r>
            <a:pPr indent="0" marL="0">
              <a:buNone/>
            </a:pPr>
            <a:r>
              <a:rPr lang="en-US" sz="975" dirty="0">
                <a:solidFill>
                  <a:srgbClr val="202933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indent="0" marL="0">
              <a:buNone/>
            </a:pPr>
            <a:r>
              <a:rPr lang="en-US" sz="97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45a durometer glue-like rubber</a:t>
            </a:r>
            <a:pPr indent="0" marL="0">
              <a:buNone/>
            </a:pPr>
            <a:r>
              <a:rPr lang="en-US" sz="975" dirty="0">
                <a:solidFill>
                  <a:srgbClr val="202933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 60a base, </a:t>
            </a:r>
            <a:pPr indent="0" marL="0">
              <a:buNone/>
            </a:pPr>
            <a:r>
              <a:rPr lang="en-US" sz="97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double-sided V-tread</a:t>
            </a:r>
            <a:pPr indent="0" marL="0">
              <a:buNone/>
            </a:pPr>
            <a:r>
              <a:rPr lang="en-US" sz="975" dirty="0">
                <a:solidFill>
                  <a:srgbClr val="202933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grips tyre + ground. </a:t>
            </a:r>
            <a:pPr indent="0" marL="0">
              <a:buNone/>
            </a:pPr>
            <a:r>
              <a:rPr lang="en-US" sz="97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60-sec clip-on</a:t>
            </a:r>
            <a:pPr indent="0" marL="0">
              <a:buNone/>
            </a:pPr>
            <a:r>
              <a:rPr lang="en-US" sz="975" dirty="0">
                <a:solidFill>
                  <a:srgbClr val="202933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26" HillClimber, sleeve for 700c CiTiDriver. Stored at hub, issued when rain &gt;70% via weather API.</a:t>
            </a:r>
            <a:endParaRPr lang="en-US" sz="97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3948410"/>
            <a:ext cx="570458" cy="22621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47775" y="3996035"/>
            <a:ext cx="418058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reusable </a:t>
            </a:r>
            <a:endParaRPr lang="en-US" sz="788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183" y="3948410"/>
            <a:ext cx="1106984" cy="22621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875383" y="3996035"/>
            <a:ext cx="954584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roll without damage </a:t>
            </a:r>
            <a:endParaRPr lang="en-US" sz="788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3317" y="3948410"/>
            <a:ext cx="1123504" cy="226219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3039517" y="3996035"/>
            <a:ext cx="971104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20% speed cut auto </a:t>
            </a:r>
            <a:endParaRPr lang="en-US" sz="788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488954"/>
            <a:ext cx="5791200" cy="134808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714375" y="46482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57171">
              <a:alpha val="14000"/>
            </a:srgbClr>
          </a:solidFill>
          <a:ln/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727079"/>
            <a:ext cx="152400" cy="1905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171575" y="4650879"/>
            <a:ext cx="49720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Aft>
                <a:spcPts val="300"/>
              </a:spcAft>
              <a:buNone/>
            </a:pPr>
            <a:r>
              <a:rPr lang="en-US" sz="1125" b="1" spc="-17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NFC edge-to-edge cycle</a:t>
            </a:r>
            <a:endParaRPr lang="en-US" sz="1125" dirty="0"/>
          </a:p>
        </p:txBody>
      </p:sp>
      <p:sp>
        <p:nvSpPr>
          <p:cNvPr id="20" name="Text 10"/>
          <p:cNvSpPr txBox="1"/>
          <p:nvPr/>
        </p:nvSpPr>
        <p:spPr>
          <a:xfrm>
            <a:off x="1171575" y="4862810"/>
            <a:ext cx="4972050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 0.2s PN532 → BLE</a:t>
            </a:r>
            <a:pPr indent="0" marL="0">
              <a:buNone/>
            </a:pPr>
            <a:r>
              <a:rPr lang="en-US" sz="975" dirty="0">
                <a:solidFill>
                  <a:srgbClr val="202933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handover ID + odometer + battery. Ride offline logging Hall sensors + GPS. </a:t>
            </a:r>
            <a:pPr indent="0" marL="0">
              <a:buNone/>
            </a:pPr>
            <a:r>
              <a:rPr lang="en-US" sz="97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data at rank,</a:t>
            </a:r>
            <a:pPr indent="0" marL="0">
              <a:buNone/>
            </a:pPr>
            <a:r>
              <a:rPr lang="en-US" sz="975" dirty="0">
                <a:solidFill>
                  <a:srgbClr val="202933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sync later at Checkers hub WiFi. AI wet brain detects slip: wheel vs GPS.</a:t>
            </a:r>
            <a:endParaRPr lang="en-US" sz="975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1575" y="5448895"/>
            <a:ext cx="717649" cy="226219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247775" y="5496520"/>
            <a:ext cx="565249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PN532 0.2s</a:t>
            </a:r>
            <a:endParaRPr lang="en-US" sz="788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6374" y="5448895"/>
            <a:ext cx="667941" cy="226219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2022574" y="5496520"/>
            <a:ext cx="51554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 offline</a:t>
            </a:r>
            <a:endParaRPr lang="en-US" sz="788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1465" y="5448895"/>
            <a:ext cx="643682" cy="226219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2747665" y="5496520"/>
            <a:ext cx="491282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ESP32-S3</a:t>
            </a:r>
            <a:endParaRPr lang="en-US" sz="788" dirty="0"/>
          </a:p>
        </p:txBody>
      </p:sp>
      <p:sp>
        <p:nvSpPr>
          <p:cNvPr id="27" name="Shape 14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5600" y="0"/>
            <a:ext cx="5486400" cy="4251871"/>
          </a:xfrm>
          <a:prstGeom prst="rect">
            <a:avLst/>
          </a:prstGeom>
        </p:spPr>
      </p:pic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5600" y="4251871"/>
            <a:ext cx="5486400" cy="2605980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6858000" y="4287589"/>
            <a:ext cx="51816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66" kern="0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→ UNLOCK → RIDE OFFLINE → LOCK → HUB SYNC</a:t>
            </a:r>
            <a:endParaRPr lang="en-US" sz="825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0" y="4511427"/>
            <a:ext cx="5181600" cy="2329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3400" y="1498402"/>
            <a:ext cx="4610100" cy="69949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750"/>
              </a:spcAft>
              <a:buNone/>
            </a:pPr>
            <a:r>
              <a:rPr lang="en-US" sz="2700" b="1" spc="-54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TapCard + DropBox — </a:t>
            </a:r>
            <a:pPr indent="0" marL="0">
              <a:buNone/>
            </a:pPr>
            <a:r>
              <a:rPr lang="en-US" sz="2700" b="1" spc="-54" kern="0" dirty="0">
                <a:solidFill>
                  <a:srgbClr val="1672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inclusive final lock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2302669"/>
            <a:ext cx="4191000" cy="3631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Aft>
                <a:spcPts val="1500"/>
              </a:spcAft>
              <a:buNone/>
            </a:pPr>
            <a:r>
              <a:rPr lang="en-US" sz="1013" b="1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without NFC phones — deposit card makes Gordon's Bay cash-inclusive, DropBox closes the trust loop.</a:t>
            </a:r>
            <a:endParaRPr lang="en-US" sz="101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856309"/>
            <a:ext cx="2247900" cy="17359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5325" y="301942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415C7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9150" y="31432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019175" y="3070920"/>
            <a:ext cx="726430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75" b="1" spc="-15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TapCard R12</a:t>
            </a:r>
            <a:endParaRPr lang="en-US" sz="975" dirty="0"/>
          </a:p>
        </p:txBody>
      </p:sp>
      <p:sp>
        <p:nvSpPr>
          <p:cNvPr id="9" name="Text 6"/>
          <p:cNvSpPr txBox="1"/>
          <p:nvPr/>
        </p:nvSpPr>
        <p:spPr>
          <a:xfrm>
            <a:off x="828675" y="3342084"/>
            <a:ext cx="179070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NTAG215 — last 10 trips</a:t>
            </a:r>
            <a:endParaRPr lang="en-US" sz="938" dirty="0"/>
          </a:p>
        </p:txBody>
      </p:sp>
      <p:sp>
        <p:nvSpPr>
          <p:cNvPr id="10" name="Text 7"/>
          <p:cNvSpPr txBox="1"/>
          <p:nvPr/>
        </p:nvSpPr>
        <p:spPr>
          <a:xfrm>
            <a:off x="695325" y="3408759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endParaRPr lang="en-US" sz="938" dirty="0"/>
          </a:p>
        </p:txBody>
      </p:sp>
      <p:sp>
        <p:nvSpPr>
          <p:cNvPr id="11" name="Text 8"/>
          <p:cNvSpPr txBox="1"/>
          <p:nvPr/>
        </p:nvSpPr>
        <p:spPr>
          <a:xfrm>
            <a:off x="828675" y="3550444"/>
            <a:ext cx="179070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flag + helmet size</a:t>
            </a:r>
            <a:endParaRPr lang="en-US" sz="938" dirty="0"/>
          </a:p>
        </p:txBody>
      </p:sp>
      <p:sp>
        <p:nvSpPr>
          <p:cNvPr id="12" name="Text 9"/>
          <p:cNvSpPr txBox="1"/>
          <p:nvPr/>
        </p:nvSpPr>
        <p:spPr>
          <a:xfrm>
            <a:off x="695325" y="3617119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endParaRPr lang="en-US" sz="938" dirty="0"/>
          </a:p>
        </p:txBody>
      </p:sp>
      <p:sp>
        <p:nvSpPr>
          <p:cNvPr id="13" name="Text 10"/>
          <p:cNvSpPr txBox="1"/>
          <p:nvPr/>
        </p:nvSpPr>
        <p:spPr>
          <a:xfrm>
            <a:off x="828675" y="3758803"/>
            <a:ext cx="17907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lives on tablet, not card</a:t>
            </a:r>
            <a:endParaRPr lang="en-US" sz="938" dirty="0"/>
          </a:p>
        </p:txBody>
      </p:sp>
      <p:sp>
        <p:nvSpPr>
          <p:cNvPr id="14" name="Text 11"/>
          <p:cNvSpPr txBox="1"/>
          <p:nvPr/>
        </p:nvSpPr>
        <p:spPr>
          <a:xfrm>
            <a:off x="695325" y="3825478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endParaRPr lang="en-US" sz="938" dirty="0"/>
          </a:p>
        </p:txBody>
      </p:sp>
      <p:sp>
        <p:nvSpPr>
          <p:cNvPr id="15" name="Text 12"/>
          <p:cNvSpPr txBox="1"/>
          <p:nvPr/>
        </p:nvSpPr>
        <p:spPr>
          <a:xfrm>
            <a:off x="828675" y="4127897"/>
            <a:ext cx="179070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Deposit R50 / Buy R80</a:t>
            </a:r>
            <a:endParaRPr lang="en-US" sz="938" dirty="0"/>
          </a:p>
        </p:txBody>
      </p:sp>
      <p:sp>
        <p:nvSpPr>
          <p:cNvPr id="16" name="Text 13"/>
          <p:cNvSpPr txBox="1"/>
          <p:nvPr/>
        </p:nvSpPr>
        <p:spPr>
          <a:xfrm>
            <a:off x="695325" y="4194572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endParaRPr lang="en-US" sz="938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856309"/>
            <a:ext cx="2247900" cy="173593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057525" y="3019425"/>
            <a:ext cx="247650" cy="247650"/>
          </a:xfrm>
          <a:prstGeom prst="roundRect">
            <a:avLst>
              <a:gd name="adj" fmla="val 30769"/>
            </a:avLst>
          </a:prstGeom>
          <a:solidFill>
            <a:srgbClr val="16726E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181350" y="31432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 txBox="1"/>
          <p:nvPr/>
        </p:nvSpPr>
        <p:spPr>
          <a:xfrm>
            <a:off x="3381375" y="3070920"/>
            <a:ext cx="835223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75" b="1" spc="-15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DropBox R650</a:t>
            </a:r>
            <a:endParaRPr lang="en-US" sz="975" dirty="0"/>
          </a:p>
        </p:txBody>
      </p:sp>
      <p:sp>
        <p:nvSpPr>
          <p:cNvPr id="21" name="Text 17"/>
          <p:cNvSpPr txBox="1"/>
          <p:nvPr/>
        </p:nvSpPr>
        <p:spPr>
          <a:xfrm>
            <a:off x="3190875" y="3342084"/>
            <a:ext cx="179070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Steel Faraday cage grounded</a:t>
            </a:r>
            <a:endParaRPr lang="en-US" sz="938" dirty="0"/>
          </a:p>
        </p:txBody>
      </p:sp>
      <p:sp>
        <p:nvSpPr>
          <p:cNvPr id="22" name="Text 18"/>
          <p:cNvSpPr txBox="1"/>
          <p:nvPr/>
        </p:nvSpPr>
        <p:spPr>
          <a:xfrm>
            <a:off x="3057525" y="3408759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endParaRPr lang="en-US" sz="938" dirty="0"/>
          </a:p>
        </p:txBody>
      </p:sp>
      <p:sp>
        <p:nvSpPr>
          <p:cNvPr id="23" name="Text 19"/>
          <p:cNvSpPr txBox="1"/>
          <p:nvPr/>
        </p:nvSpPr>
        <p:spPr>
          <a:xfrm>
            <a:off x="3190875" y="3550444"/>
            <a:ext cx="17907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Slot 86×2mm labyrinth 90° bend</a:t>
            </a:r>
            <a:endParaRPr lang="en-US" sz="938" dirty="0"/>
          </a:p>
        </p:txBody>
      </p:sp>
      <p:sp>
        <p:nvSpPr>
          <p:cNvPr id="24" name="Text 20"/>
          <p:cNvSpPr txBox="1"/>
          <p:nvPr/>
        </p:nvSpPr>
        <p:spPr>
          <a:xfrm>
            <a:off x="3057525" y="3617119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endParaRPr lang="en-US" sz="938" dirty="0"/>
          </a:p>
        </p:txBody>
      </p:sp>
      <p:sp>
        <p:nvSpPr>
          <p:cNvPr id="25" name="Text 21"/>
          <p:cNvSpPr txBox="1"/>
          <p:nvPr/>
        </p:nvSpPr>
        <p:spPr>
          <a:xfrm>
            <a:off x="3190875" y="3919537"/>
            <a:ext cx="17907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beam wakes PN532 2s only inside</a:t>
            </a:r>
            <a:endParaRPr lang="en-US" sz="938" dirty="0"/>
          </a:p>
        </p:txBody>
      </p:sp>
      <p:sp>
        <p:nvSpPr>
          <p:cNvPr id="26" name="Text 22"/>
          <p:cNvSpPr txBox="1"/>
          <p:nvPr/>
        </p:nvSpPr>
        <p:spPr>
          <a:xfrm>
            <a:off x="3057525" y="3986213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endParaRPr lang="en-US" sz="938" dirty="0"/>
          </a:p>
        </p:txBody>
      </p:sp>
      <p:sp>
        <p:nvSpPr>
          <p:cNvPr id="27" name="Text 23"/>
          <p:cNvSpPr txBox="1"/>
          <p:nvPr/>
        </p:nvSpPr>
        <p:spPr>
          <a:xfrm>
            <a:off x="3190875" y="4288631"/>
            <a:ext cx="179070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202A33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Ferrite focus, RF 30% inward</a:t>
            </a:r>
            <a:endParaRPr lang="en-US" sz="938" dirty="0"/>
          </a:p>
        </p:txBody>
      </p:sp>
      <p:sp>
        <p:nvSpPr>
          <p:cNvPr id="28" name="Text 24"/>
          <p:cNvSpPr txBox="1"/>
          <p:nvPr/>
        </p:nvSpPr>
        <p:spPr>
          <a:xfrm>
            <a:off x="3057525" y="4355306"/>
            <a:ext cx="47625" cy="476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endParaRPr lang="en-US" sz="938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44641"/>
            <a:ext cx="4610100" cy="691009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76275" y="49339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02A33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28675" y="50863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 txBox="1"/>
          <p:nvPr/>
        </p:nvSpPr>
        <p:spPr>
          <a:xfrm>
            <a:off x="1076325" y="4868466"/>
            <a:ext cx="3924300" cy="44335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outward scanning:</a:t>
            </a:r>
            <a:pPr indent="0" marL="0">
              <a:buNone/>
            </a:pPr>
            <a:r>
              <a:rPr lang="en-US" sz="863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reader OFF until card breaks beam inside. Last TapReceiver writes RETURNED+LOCKED, drops to locked bin out of client hands. LED green = refund due.</a:t>
            </a:r>
            <a:endParaRPr lang="en-US" sz="863" dirty="0"/>
          </a:p>
        </p:txBody>
      </p:sp>
      <p:sp>
        <p:nvSpPr>
          <p:cNvPr id="33" name="Shape 28"/>
          <p:cNvSpPr/>
          <p:nvPr/>
        </p:nvSpPr>
        <p:spPr>
          <a:xfrm>
            <a:off x="5486400" y="0"/>
            <a:ext cx="6705600" cy="6858000"/>
          </a:xfrm>
          <a:prstGeom prst="rect">
            <a:avLst/>
          </a:prstGeom>
          <a:solidFill>
            <a:srgbClr val="D8D5D0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350" y="5868442"/>
            <a:ext cx="3251002" cy="989558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829300" y="6362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AA36B"/>
          </a:solidFill>
          <a:ln/>
          <a:effectLst>
            <a:outerShdw sx="100000" sy="100000" kx="0" ky="0" algn="bl" rotWithShape="0" blurRad="6089" dist="971" dir="5400000">
              <a:srgbClr val="000000">
                <a:alpha val="100000"/>
              </a:srgbClr>
            </a:outerShdw>
          </a:effectLst>
        </p:spPr>
      </p:sp>
      <p:sp>
        <p:nvSpPr>
          <p:cNvPr id="37" name="Text 30"/>
          <p:cNvSpPr txBox="1"/>
          <p:nvPr/>
        </p:nvSpPr>
        <p:spPr>
          <a:xfrm>
            <a:off x="6019800" y="6417022"/>
            <a:ext cx="2336602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900" b="1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Blockbuster Box</a:t>
            </a:r>
            <a:pPr indent="0" marL="0">
              <a:buNone/>
            </a:pPr>
            <a:r>
              <a:rPr lang="en-US" sz="825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received — R50 refund at controller desk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7581900" cy="7313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spc="-60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model — side roads funded by saved km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0100" y="590550"/>
            <a:ext cx="3238500" cy="5598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62975" y="600075"/>
            <a:ext cx="3095625" cy="5503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15C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km translator funds infrastructure, not just rides. Fuel = 3× multiplier — e-bike wins, City saves, roads get patched.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40941"/>
            <a:ext cx="4937671" cy="509795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5325" y="1502866"/>
            <a:ext cx="2635151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75" b="1" spc="39" kern="0" dirty="0">
                <a:solidFill>
                  <a:srgbClr val="415C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PER KM — TRANSLATOR STANDARD</a:t>
            </a:r>
            <a:endParaRPr lang="en-US" sz="975" dirty="0"/>
          </a:p>
        </p:txBody>
      </p:sp>
      <p:sp>
        <p:nvSpPr>
          <p:cNvPr id="7" name="Shape 3"/>
          <p:cNvSpPr/>
          <p:nvPr/>
        </p:nvSpPr>
        <p:spPr>
          <a:xfrm>
            <a:off x="695325" y="1743075"/>
            <a:ext cx="4610100" cy="4533900"/>
          </a:xfrm>
          <a:prstGeom prst="roundRect">
            <a:avLst>
              <a:gd name="adj" fmla="val 2521"/>
            </a:avLst>
          </a:prstGeom>
          <a:solidFill>
            <a:srgbClr val="F4F2ED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30" y="2770436"/>
            <a:ext cx="4310063" cy="2476351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471" y="1340941"/>
            <a:ext cx="2950815" cy="248230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800725" y="15240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15C76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5943600" y="166687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 txBox="1"/>
          <p:nvPr/>
        </p:nvSpPr>
        <p:spPr>
          <a:xfrm>
            <a:off x="5804446" y="1902916"/>
            <a:ext cx="2588865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450"/>
              </a:spcAft>
              <a:buNone/>
            </a:pPr>
            <a:r>
              <a:rPr lang="en-US" sz="1013" b="1" spc="-10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Formula</a:t>
            </a:r>
            <a:endParaRPr lang="en-US" sz="1013" dirty="0"/>
          </a:p>
        </p:txBody>
      </p:sp>
      <p:sp>
        <p:nvSpPr>
          <p:cNvPr id="13" name="Text 7"/>
          <p:cNvSpPr txBox="1"/>
          <p:nvPr/>
        </p:nvSpPr>
        <p:spPr>
          <a:xfrm>
            <a:off x="5804446" y="2123777"/>
            <a:ext cx="2588865" cy="4905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cost/km = base × method × fuel index</a:t>
            </a:r>
            <a:endParaRPr lang="en-US" sz="938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Taxi R12.5 walk, MyCiTi feeder R18.0 gap, HillClimber R6.2, CiTiDriver wet R5.8</a:t>
            </a:r>
            <a:endParaRPr lang="en-US" sz="938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4446" y="3427958"/>
            <a:ext cx="908298" cy="252413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880646" y="3485108"/>
            <a:ext cx="75589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highlight>
                  <a:srgbClr val="40597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Open standard</a:t>
            </a:r>
            <a:endParaRPr lang="en-US" sz="825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8944" y="3427958"/>
            <a:ext cx="896094" cy="252413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865144" y="3485108"/>
            <a:ext cx="74369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highlight>
                  <a:srgbClr val="40597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Auditable CSV</a:t>
            </a:r>
            <a:endParaRPr lang="en-US" sz="825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7636" y="1340941"/>
            <a:ext cx="2950964" cy="248230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8886825" y="15240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6726E"/>
          </a:solidFill>
          <a:ln/>
        </p:spPr>
      </p:sp>
      <p:sp>
        <p:nvSpPr>
          <p:cNvPr id="20" name="Text 11"/>
          <p:cNvSpPr txBox="1"/>
          <p:nvPr/>
        </p:nvSpPr>
        <p:spPr>
          <a:xfrm>
            <a:off x="9029700" y="166687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2"/>
          <p:cNvSpPr txBox="1"/>
          <p:nvPr/>
        </p:nvSpPr>
        <p:spPr>
          <a:xfrm>
            <a:off x="8888611" y="1902916"/>
            <a:ext cx="2589014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450"/>
              </a:spcAft>
              <a:buNone/>
            </a:pPr>
            <a:r>
              <a:rPr lang="en-US" sz="1013" b="1" spc="-10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Savings engine</a:t>
            </a:r>
            <a:endParaRPr lang="en-US" sz="1013" dirty="0"/>
          </a:p>
        </p:txBody>
      </p:sp>
      <p:sp>
        <p:nvSpPr>
          <p:cNvPr id="22" name="Text 13"/>
          <p:cNvSpPr txBox="1"/>
          <p:nvPr/>
        </p:nvSpPr>
        <p:spPr>
          <a:xfrm>
            <a:off x="8888611" y="2123777"/>
            <a:ext cx="2589014" cy="4905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days airless</a:t>
            </a:r>
            <a:pPr indent="0" marL="0"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zero puncture downtime, </a:t>
            </a:r>
            <a:pPr indent="0" marL="0">
              <a:buNone/>
            </a:pPr>
            <a:r>
              <a:rPr lang="en-US" sz="938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 rainy days</a:t>
            </a:r>
            <a:pPr indent="0" marL="0"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Wet Kit strap-on, motor derate saves battery. 0 roadside repairs.</a:t>
            </a:r>
            <a:endParaRPr lang="en-US" sz="938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8611" y="3427958"/>
            <a:ext cx="770930" cy="252413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8964811" y="3485108"/>
            <a:ext cx="61853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highlight>
                  <a:srgbClr val="40597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 punctures</a:t>
            </a:r>
            <a:endParaRPr lang="en-US" sz="825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5741" y="3427958"/>
            <a:ext cx="633115" cy="252413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811941" y="3485108"/>
            <a:ext cx="48071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highlight>
                  <a:srgbClr val="40597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300 days</a:t>
            </a:r>
            <a:endParaRPr lang="en-US" sz="825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3471" y="3956596"/>
            <a:ext cx="2950815" cy="2482304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5800725" y="41338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02A33"/>
          </a:solidFill>
          <a:ln/>
        </p:spPr>
      </p:sp>
      <p:sp>
        <p:nvSpPr>
          <p:cNvPr id="29" name="Text 17"/>
          <p:cNvSpPr txBox="1"/>
          <p:nvPr/>
        </p:nvSpPr>
        <p:spPr>
          <a:xfrm>
            <a:off x="5943600" y="42767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18"/>
          <p:cNvSpPr txBox="1"/>
          <p:nvPr/>
        </p:nvSpPr>
        <p:spPr>
          <a:xfrm>
            <a:off x="5804446" y="4518571"/>
            <a:ext cx="2588865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450"/>
              </a:spcAft>
              <a:buNone/>
            </a:pPr>
            <a:r>
              <a:rPr lang="en-US" sz="1013" b="1" spc="-10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</a:t>
            </a:r>
            <a:endParaRPr lang="en-US" sz="1013" dirty="0"/>
          </a:p>
        </p:txBody>
      </p:sp>
      <p:sp>
        <p:nvSpPr>
          <p:cNvPr id="31" name="Text 19"/>
          <p:cNvSpPr txBox="1"/>
          <p:nvPr/>
        </p:nvSpPr>
        <p:spPr>
          <a:xfrm>
            <a:off x="5804446" y="4739432"/>
            <a:ext cx="2588865" cy="4905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City: R6.2/feeder km</a:t>
            </a:r>
            <a:pPr indent="0" marL="0"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open km. </a:t>
            </a:r>
            <a:pPr indent="0" marL="0">
              <a:buNone/>
            </a:pPr>
            <a:r>
              <a:rPr lang="en-US" sz="938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Sixty60: km share</a:t>
            </a:r>
            <a:pPr indent="0" marL="0"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delivery. Deposit float </a:t>
            </a:r>
            <a:pPr indent="0" marL="0">
              <a:buNone/>
            </a:pPr>
            <a:r>
              <a:rPr lang="en-US" sz="938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R50 × 200 cards = R10k</a:t>
            </a:r>
            <a:pPr indent="0" marL="0"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hub.</a:t>
            </a:r>
            <a:endParaRPr lang="en-US" sz="938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4446" y="6043613"/>
            <a:ext cx="518517" cy="252413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5880646" y="6100763"/>
            <a:ext cx="36611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highlight>
                  <a:srgbClr val="40597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MyCiTi</a:t>
            </a:r>
            <a:endParaRPr lang="en-US" sz="825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9163" y="6043613"/>
            <a:ext cx="554236" cy="252413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6475363" y="6100763"/>
            <a:ext cx="40183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highlight>
                  <a:srgbClr val="40597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Sixty60</a:t>
            </a:r>
            <a:endParaRPr lang="en-US" sz="825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7636" y="3956596"/>
            <a:ext cx="2950964" cy="2482304"/>
          </a:xfrm>
          <a:prstGeom prst="rect">
            <a:avLst/>
          </a:prstGeom>
        </p:spPr>
      </p:pic>
      <p:sp>
        <p:nvSpPr>
          <p:cNvPr id="37" name="Shape 22"/>
          <p:cNvSpPr/>
          <p:nvPr/>
        </p:nvSpPr>
        <p:spPr>
          <a:xfrm>
            <a:off x="8886825" y="41338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326473"/>
          </a:solidFill>
          <a:ln/>
        </p:spPr>
      </p:sp>
      <p:sp>
        <p:nvSpPr>
          <p:cNvPr id="38" name="Text 23"/>
          <p:cNvSpPr txBox="1"/>
          <p:nvPr/>
        </p:nvSpPr>
        <p:spPr>
          <a:xfrm>
            <a:off x="9029700" y="42767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4"/>
          <p:cNvSpPr txBox="1"/>
          <p:nvPr/>
        </p:nvSpPr>
        <p:spPr>
          <a:xfrm>
            <a:off x="8888611" y="4518571"/>
            <a:ext cx="2589014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450"/>
              </a:spcAft>
              <a:buNone/>
            </a:pPr>
            <a:r>
              <a:rPr lang="en-US" sz="1013" b="1" spc="-10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Jobs — support not own</a:t>
            </a:r>
            <a:endParaRPr lang="en-US" sz="1013" dirty="0"/>
          </a:p>
        </p:txBody>
      </p:sp>
      <p:sp>
        <p:nvSpPr>
          <p:cNvPr id="40" name="Text 25"/>
          <p:cNvSpPr txBox="1"/>
          <p:nvPr/>
        </p:nvSpPr>
        <p:spPr>
          <a:xfrm>
            <a:off x="8888611" y="4739432"/>
            <a:ext cx="2589014" cy="4905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Controller = TapCard agent + maintenance + safety trainer.</a:t>
            </a:r>
            <a:pPr indent="0" marL="0">
              <a:buNone/>
            </a:pPr>
            <a:r>
              <a:rPr lang="en-US" sz="938" dirty="0">
                <a:solidFill>
                  <a:srgbClr val="202A33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 jobs per hub, 15 in pilot. Cash top-up, no bank needed.</a:t>
            </a:r>
            <a:endParaRPr lang="en-US" sz="938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8611" y="6043613"/>
            <a:ext cx="708422" cy="252413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8964811" y="6100763"/>
            <a:ext cx="55602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highlight>
                  <a:srgbClr val="40597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3× per hub</a:t>
            </a:r>
            <a:endParaRPr lang="en-US" sz="825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233" y="6043613"/>
            <a:ext cx="898922" cy="252413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9749433" y="6100763"/>
            <a:ext cx="74652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15C76"/>
                </a:solidFill>
                <a:highlight>
                  <a:srgbClr val="405973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Cash inclusive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25200" cy="381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spc="-60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Gordon's Bay pilot — 5 hubs at Checkers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76300"/>
            <a:ext cx="1112520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1F2933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where Checkers already has security, solar, CCTV — share roof, share cost. Support not own.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66825"/>
            <a:ext cx="5740598" cy="3048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4375" y="1461641"/>
            <a:ext cx="1429643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b="1" spc="-16" kern="0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Checkers hub network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411" y="1428750"/>
            <a:ext cx="855613" cy="2190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13611" y="1476375"/>
            <a:ext cx="70321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415C7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5 SITES READY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743075"/>
            <a:ext cx="2651224" cy="50765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38200" y="1847850"/>
            <a:ext cx="2403574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Central Checkers</a:t>
            </a:r>
            <a:endParaRPr lang="en-US" sz="938" dirty="0"/>
          </a:p>
        </p:txBody>
      </p:sp>
      <p:sp>
        <p:nvSpPr>
          <p:cNvPr id="10" name="Text 5"/>
          <p:cNvSpPr txBox="1"/>
          <p:nvPr/>
        </p:nvSpPr>
        <p:spPr>
          <a:xfrm>
            <a:off x="838200" y="2009775"/>
            <a:ext cx="2403574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02933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Gordon's Bay main, Time Controller desk</a:t>
            </a:r>
            <a:endParaRPr lang="en-US" sz="825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799" y="1743075"/>
            <a:ext cx="2651224" cy="50765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565624" y="1847850"/>
            <a:ext cx="2403574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Mountainside</a:t>
            </a:r>
            <a:endParaRPr lang="en-US" sz="938" dirty="0"/>
          </a:p>
        </p:txBody>
      </p:sp>
      <p:sp>
        <p:nvSpPr>
          <p:cNvPr id="13" name="Text 7"/>
          <p:cNvSpPr txBox="1"/>
          <p:nvPr/>
        </p:nvSpPr>
        <p:spPr>
          <a:xfrm>
            <a:off x="3565624" y="2009775"/>
            <a:ext cx="2403574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02933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grade start, HillClimber base</a:t>
            </a:r>
            <a:endParaRPr lang="en-US" sz="825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326928"/>
            <a:ext cx="2651224" cy="507653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38200" y="2431703"/>
            <a:ext cx="2403574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Harbour</a:t>
            </a:r>
            <a:endParaRPr lang="en-US" sz="938" dirty="0"/>
          </a:p>
        </p:txBody>
      </p:sp>
      <p:sp>
        <p:nvSpPr>
          <p:cNvPr id="16" name="Text 9"/>
          <p:cNvSpPr txBox="1"/>
          <p:nvPr/>
        </p:nvSpPr>
        <p:spPr>
          <a:xfrm>
            <a:off x="838200" y="2593628"/>
            <a:ext cx="2403574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02933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Tourist + feeder, wet kit issue</a:t>
            </a:r>
            <a:endParaRPr lang="en-US" sz="825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799" y="2326928"/>
            <a:ext cx="2651224" cy="507653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3565624" y="2431703"/>
            <a:ext cx="2403574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Strand</a:t>
            </a:r>
            <a:endParaRPr lang="en-US" sz="938" dirty="0"/>
          </a:p>
        </p:txBody>
      </p:sp>
      <p:sp>
        <p:nvSpPr>
          <p:cNvPr id="19" name="Text 11"/>
          <p:cNvSpPr txBox="1"/>
          <p:nvPr/>
        </p:nvSpPr>
        <p:spPr>
          <a:xfrm>
            <a:off x="3565624" y="2593628"/>
            <a:ext cx="2403574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02933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CiTiDriver feeder link</a:t>
            </a:r>
            <a:endParaRPr lang="en-US" sz="825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910780"/>
            <a:ext cx="2651224" cy="507653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38200" y="3015555"/>
            <a:ext cx="2403574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Somerset West rank</a:t>
            </a:r>
            <a:endParaRPr lang="en-US" sz="938" dirty="0"/>
          </a:p>
        </p:txBody>
      </p:sp>
      <p:sp>
        <p:nvSpPr>
          <p:cNvPr id="22" name="Text 13"/>
          <p:cNvSpPr txBox="1"/>
          <p:nvPr/>
        </p:nvSpPr>
        <p:spPr>
          <a:xfrm>
            <a:off x="838200" y="3177480"/>
            <a:ext cx="2403574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02933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Taxi rank partnership, not competition</a:t>
            </a:r>
            <a:endParaRPr lang="en-US" sz="82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1799" y="2910780"/>
            <a:ext cx="2651224" cy="507653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3565624" y="3015555"/>
            <a:ext cx="2403574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future infill</a:t>
            </a:r>
            <a:endParaRPr lang="en-US" sz="938" dirty="0"/>
          </a:p>
        </p:txBody>
      </p:sp>
      <p:sp>
        <p:nvSpPr>
          <p:cNvPr id="25" name="Text 15"/>
          <p:cNvSpPr txBox="1"/>
          <p:nvPr/>
        </p:nvSpPr>
        <p:spPr>
          <a:xfrm>
            <a:off x="3565624" y="3177480"/>
            <a:ext cx="2403574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02933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km data decides next patch</a:t>
            </a:r>
            <a:endParaRPr lang="en-US" sz="825" dirty="0"/>
          </a:p>
        </p:txBody>
      </p:sp>
      <p:sp>
        <p:nvSpPr>
          <p:cNvPr id="26" name="Shape 16"/>
          <p:cNvSpPr/>
          <p:nvPr/>
        </p:nvSpPr>
        <p:spPr>
          <a:xfrm>
            <a:off x="714375" y="3514725"/>
            <a:ext cx="1285875" cy="638175"/>
          </a:xfrm>
          <a:prstGeom prst="roundRect">
            <a:avLst>
              <a:gd name="adj" fmla="val 14925"/>
            </a:avLst>
          </a:prstGeom>
          <a:solidFill>
            <a:srgbClr val="202A33"/>
          </a:solidFill>
          <a:ln/>
        </p:spPr>
      </p:sp>
      <p:sp>
        <p:nvSpPr>
          <p:cNvPr id="27" name="Text 17"/>
          <p:cNvSpPr txBox="1"/>
          <p:nvPr/>
        </p:nvSpPr>
        <p:spPr>
          <a:xfrm>
            <a:off x="828675" y="3608933"/>
            <a:ext cx="1058912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</a:t>
            </a:r>
            <a:endParaRPr lang="en-US" sz="1350" dirty="0"/>
          </a:p>
        </p:txBody>
      </p:sp>
      <p:sp>
        <p:nvSpPr>
          <p:cNvPr id="28" name="Text 18"/>
          <p:cNvSpPr txBox="1"/>
          <p:nvPr/>
        </p:nvSpPr>
        <p:spPr>
          <a:xfrm>
            <a:off x="828675" y="3818483"/>
            <a:ext cx="1058912" cy="2399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bikes</a:t>
            </a:r>
            <a:endParaRPr lang="en-US" sz="788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Hill + 10 CiTi</a:t>
            </a:r>
            <a:endParaRPr lang="en-US" sz="788" dirty="0"/>
          </a:p>
        </p:txBody>
      </p:sp>
      <p:sp>
        <p:nvSpPr>
          <p:cNvPr id="29" name="Shape 19"/>
          <p:cNvSpPr/>
          <p:nvPr/>
        </p:nvSpPr>
        <p:spPr>
          <a:xfrm>
            <a:off x="2076450" y="3514725"/>
            <a:ext cx="1285875" cy="638175"/>
          </a:xfrm>
          <a:prstGeom prst="roundRect">
            <a:avLst>
              <a:gd name="adj" fmla="val 14925"/>
            </a:avLst>
          </a:prstGeom>
          <a:solidFill>
            <a:srgbClr val="202A33"/>
          </a:solidFill>
          <a:ln/>
        </p:spPr>
      </p:sp>
      <p:sp>
        <p:nvSpPr>
          <p:cNvPr id="30" name="Text 20"/>
          <p:cNvSpPr txBox="1"/>
          <p:nvPr/>
        </p:nvSpPr>
        <p:spPr>
          <a:xfrm>
            <a:off x="2192387" y="3608933"/>
            <a:ext cx="1058912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350" dirty="0"/>
          </a:p>
        </p:txBody>
      </p:sp>
      <p:sp>
        <p:nvSpPr>
          <p:cNvPr id="31" name="Text 21"/>
          <p:cNvSpPr txBox="1"/>
          <p:nvPr/>
        </p:nvSpPr>
        <p:spPr>
          <a:xfrm>
            <a:off x="2192387" y="3818483"/>
            <a:ext cx="1058912" cy="2399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DropBoxes</a:t>
            </a:r>
            <a:endParaRPr lang="en-US" sz="788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steel Faraday</a:t>
            </a:r>
            <a:endParaRPr lang="en-US" sz="788" dirty="0"/>
          </a:p>
        </p:txBody>
      </p:sp>
      <p:sp>
        <p:nvSpPr>
          <p:cNvPr id="32" name="Shape 22"/>
          <p:cNvSpPr/>
          <p:nvPr/>
        </p:nvSpPr>
        <p:spPr>
          <a:xfrm>
            <a:off x="3438525" y="3514725"/>
            <a:ext cx="1285875" cy="638175"/>
          </a:xfrm>
          <a:prstGeom prst="roundRect">
            <a:avLst>
              <a:gd name="adj" fmla="val 14925"/>
            </a:avLst>
          </a:prstGeom>
          <a:solidFill>
            <a:srgbClr val="202A33"/>
          </a:solidFill>
          <a:ln/>
        </p:spPr>
      </p:sp>
      <p:sp>
        <p:nvSpPr>
          <p:cNvPr id="33" name="Text 23"/>
          <p:cNvSpPr txBox="1"/>
          <p:nvPr/>
        </p:nvSpPr>
        <p:spPr>
          <a:xfrm>
            <a:off x="3556099" y="3608933"/>
            <a:ext cx="1058912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200</a:t>
            </a:r>
            <a:endParaRPr lang="en-US" sz="1350" dirty="0"/>
          </a:p>
        </p:txBody>
      </p:sp>
      <p:sp>
        <p:nvSpPr>
          <p:cNvPr id="34" name="Text 24"/>
          <p:cNvSpPr txBox="1"/>
          <p:nvPr/>
        </p:nvSpPr>
        <p:spPr>
          <a:xfrm>
            <a:off x="3556099" y="3818483"/>
            <a:ext cx="1058912" cy="2399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TapCards</a:t>
            </a:r>
            <a:endParaRPr lang="en-US" sz="788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R50 deposit</a:t>
            </a:r>
            <a:endParaRPr lang="en-US" sz="788" dirty="0"/>
          </a:p>
        </p:txBody>
      </p:sp>
      <p:sp>
        <p:nvSpPr>
          <p:cNvPr id="35" name="Shape 25"/>
          <p:cNvSpPr/>
          <p:nvPr/>
        </p:nvSpPr>
        <p:spPr>
          <a:xfrm>
            <a:off x="4810125" y="3514725"/>
            <a:ext cx="1285875" cy="638175"/>
          </a:xfrm>
          <a:prstGeom prst="roundRect">
            <a:avLst>
              <a:gd name="adj" fmla="val 14925"/>
            </a:avLst>
          </a:prstGeom>
          <a:solidFill>
            <a:srgbClr val="202A33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4919811" y="3608933"/>
            <a:ext cx="1058912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350" dirty="0"/>
          </a:p>
        </p:txBody>
      </p:sp>
      <p:sp>
        <p:nvSpPr>
          <p:cNvPr id="37" name="Text 27"/>
          <p:cNvSpPr txBox="1"/>
          <p:nvPr/>
        </p:nvSpPr>
        <p:spPr>
          <a:xfrm>
            <a:off x="4919811" y="3818483"/>
            <a:ext cx="1058912" cy="2399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Cabinets</a:t>
            </a:r>
            <a:endParaRPr lang="en-US" sz="788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788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metal ventilated</a:t>
            </a:r>
            <a:endParaRPr lang="en-US" sz="788" dirty="0"/>
          </a:p>
        </p:txBody>
      </p:sp>
      <p:sp>
        <p:nvSpPr>
          <p:cNvPr id="38" name="Shape 28"/>
          <p:cNvSpPr/>
          <p:nvPr/>
        </p:nvSpPr>
        <p:spPr>
          <a:xfrm>
            <a:off x="6467475" y="1266825"/>
            <a:ext cx="5191125" cy="5172075"/>
          </a:xfrm>
          <a:prstGeom prst="roundRect">
            <a:avLst>
              <a:gd name="adj" fmla="val 3315"/>
            </a:avLst>
          </a:prstGeom>
          <a:solidFill>
            <a:srgbClr val="415C76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6674048" y="1457325"/>
            <a:ext cx="4774853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Aft>
                <a:spcPts val="1050"/>
              </a:spcAft>
              <a:buNone/>
            </a:pPr>
            <a:r>
              <a:rPr lang="en-US" sz="1125" b="1" spc="1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90-day target — funded by saved km</a:t>
            </a:r>
            <a:endParaRPr lang="en-US" sz="1125" dirty="0"/>
          </a:p>
        </p:txBody>
      </p:sp>
      <p:sp>
        <p:nvSpPr>
          <p:cNvPr id="40" name="Text 30"/>
          <p:cNvSpPr txBox="1"/>
          <p:nvPr/>
        </p:nvSpPr>
        <p:spPr>
          <a:xfrm>
            <a:off x="6674048" y="1754981"/>
            <a:ext cx="2320677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5,000 km</a:t>
            </a:r>
            <a:endParaRPr lang="en-US" sz="1950" dirty="0"/>
          </a:p>
        </p:txBody>
      </p:sp>
      <p:sp>
        <p:nvSpPr>
          <p:cNvPr id="41" name="Text 31"/>
          <p:cNvSpPr txBox="1"/>
          <p:nvPr/>
        </p:nvSpPr>
        <p:spPr>
          <a:xfrm>
            <a:off x="6674048" y="2040731"/>
            <a:ext cx="2320677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feeder km audited open km standard</a:t>
            </a:r>
            <a:endParaRPr lang="en-US" sz="825" dirty="0"/>
          </a:p>
        </p:txBody>
      </p:sp>
      <p:sp>
        <p:nvSpPr>
          <p:cNvPr id="42" name="Text 32"/>
          <p:cNvSpPr txBox="1"/>
          <p:nvPr/>
        </p:nvSpPr>
        <p:spPr>
          <a:xfrm>
            <a:off x="9128075" y="1754981"/>
            <a:ext cx="2320826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1950" dirty="0"/>
          </a:p>
        </p:txBody>
      </p:sp>
      <p:sp>
        <p:nvSpPr>
          <p:cNvPr id="43" name="Text 33"/>
          <p:cNvSpPr txBox="1"/>
          <p:nvPr/>
        </p:nvSpPr>
        <p:spPr>
          <a:xfrm>
            <a:off x="9128075" y="2040731"/>
            <a:ext cx="2320826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punctures — Tannus airless 300 days</a:t>
            </a:r>
            <a:endParaRPr lang="en-US" sz="825" dirty="0"/>
          </a:p>
        </p:txBody>
      </p:sp>
      <p:sp>
        <p:nvSpPr>
          <p:cNvPr id="44" name="Text 34"/>
          <p:cNvSpPr txBox="1"/>
          <p:nvPr/>
        </p:nvSpPr>
        <p:spPr>
          <a:xfrm>
            <a:off x="6674048" y="2310259"/>
            <a:ext cx="2320677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100%</a:t>
            </a:r>
            <a:endParaRPr lang="en-US" sz="1950" dirty="0"/>
          </a:p>
        </p:txBody>
      </p:sp>
      <p:sp>
        <p:nvSpPr>
          <p:cNvPr id="45" name="Text 35"/>
          <p:cNvSpPr txBox="1"/>
          <p:nvPr/>
        </p:nvSpPr>
        <p:spPr>
          <a:xfrm>
            <a:off x="6674048" y="2596009"/>
            <a:ext cx="2320677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onboarding + QR brake log</a:t>
            </a:r>
            <a:endParaRPr lang="en-US" sz="825" dirty="0"/>
          </a:p>
        </p:txBody>
      </p:sp>
      <p:sp>
        <p:nvSpPr>
          <p:cNvPr id="46" name="Text 36"/>
          <p:cNvSpPr txBox="1"/>
          <p:nvPr/>
        </p:nvSpPr>
        <p:spPr>
          <a:xfrm>
            <a:off x="9128075" y="2310259"/>
            <a:ext cx="2320826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 m²</a:t>
            </a:r>
            <a:endParaRPr lang="en-US" sz="1950" dirty="0"/>
          </a:p>
        </p:txBody>
      </p:sp>
      <p:sp>
        <p:nvSpPr>
          <p:cNvPr id="47" name="Text 37"/>
          <p:cNvSpPr txBox="1"/>
          <p:nvPr/>
        </p:nvSpPr>
        <p:spPr>
          <a:xfrm>
            <a:off x="9128075" y="2596009"/>
            <a:ext cx="2320826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side-road patch funded by saved fuel</a:t>
            </a:r>
            <a:endParaRPr lang="en-US" sz="825" dirty="0"/>
          </a:p>
        </p:txBody>
      </p:sp>
      <p:sp>
        <p:nvSpPr>
          <p:cNvPr id="48" name="Shape 38"/>
          <p:cNvSpPr/>
          <p:nvPr/>
        </p:nvSpPr>
        <p:spPr>
          <a:xfrm>
            <a:off x="6677025" y="2886075"/>
            <a:ext cx="477202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9" name="Text 39"/>
          <p:cNvSpPr txBox="1"/>
          <p:nvPr/>
        </p:nvSpPr>
        <p:spPr>
          <a:xfrm>
            <a:off x="6674048" y="3056037"/>
            <a:ext cx="4774853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Data:</a:t>
            </a:r>
            <a:pPr indent="0" marL="0">
              <a:buNone/>
            </a:pPr>
            <a:r>
              <a:rPr lang="en-US" sz="863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anonymous trip ID, rounded 100m, export CSV for City, open source audited. No PII on card — balance on tablet only. ai.studio dashboard for City + Checkers + Sixty60.</a:t>
            </a:r>
            <a:endParaRPr lang="en-US" sz="863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4048" y="5965031"/>
            <a:ext cx="798612" cy="283369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6878836" y="6041231"/>
            <a:ext cx="489049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Solar LED</a:t>
            </a:r>
            <a:endParaRPr lang="en-US" sz="788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8823" y="6050756"/>
            <a:ext cx="100013" cy="100013"/>
          </a:xfrm>
          <a:prstGeom prst="rect">
            <a:avLst/>
          </a:prstGeom>
        </p:spPr>
      </p:pic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8860" y="5965031"/>
            <a:ext cx="916484" cy="283369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7753648" y="6041231"/>
            <a:ext cx="60692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CCTV share</a:t>
            </a:r>
            <a:endParaRPr lang="en-US" sz="788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3635" y="6050756"/>
            <a:ext cx="100013" cy="100013"/>
          </a:xfrm>
          <a:prstGeom prst="rect">
            <a:avLst/>
          </a:prstGeom>
        </p:spPr>
      </p:pic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1544" y="5965031"/>
            <a:ext cx="882700" cy="283369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8746331" y="6041231"/>
            <a:ext cx="573137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Jobs 3/hub</a:t>
            </a:r>
            <a:endParaRPr lang="en-US" sz="788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6319" y="6050756"/>
            <a:ext cx="100013" cy="1000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80592" y="1581596"/>
            <a:ext cx="8430816" cy="4799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Ask — </a:t>
            </a:r>
            <a:pPr indent="0" marL="0">
              <a:buNone/>
            </a:pPr>
            <a:r>
              <a:rPr lang="en-US" sz="3900" b="1" spc="-78" kern="0" dirty="0">
                <a:solidFill>
                  <a:srgbClr val="6BB8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partnership,</a:t>
            </a:r>
            <a:pPr indent="0" marL="0"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not procurement</a:t>
            </a:r>
            <a:endParaRPr lang="en-US" sz="3900" dirty="0"/>
          </a:p>
        </p:txBody>
      </p:sp>
      <p:sp>
        <p:nvSpPr>
          <p:cNvPr id="3" name="Text 1"/>
          <p:cNvSpPr txBox="1"/>
          <p:nvPr/>
        </p:nvSpPr>
        <p:spPr>
          <a:xfrm>
            <a:off x="3143250" y="2204442"/>
            <a:ext cx="5905500" cy="41701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050"/>
              </a:spcBef>
              <a:buNone/>
            </a:pPr>
            <a:r>
              <a:rPr lang="en-US" sz="1200" dirty="0">
                <a:solidFill>
                  <a:srgbClr val="F4F2EC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need to launch Gordon's Bay in 30 days — no fleet ownership, just open km integration.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926259"/>
            <a:ext cx="2946350" cy="154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95450" y="31146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031" y="3212009"/>
            <a:ext cx="166688" cy="1333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04975" y="3545384"/>
            <a:ext cx="2584400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spcAft>
                <a:spcPts val="450"/>
              </a:spcAft>
              <a:buNone/>
            </a:pPr>
            <a:r>
              <a:rPr lang="en-US" sz="1050" b="1" spc="1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City of Cape Town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704975" y="3765352"/>
            <a:ext cx="2584400" cy="52045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for 5 Checkers hubs</a:t>
            </a:r>
            <a:pPr indent="0" marL="0">
              <a:buNone/>
            </a:pPr>
            <a:r>
              <a:rPr lang="en-US" sz="960" dirty="0">
                <a:solidFill>
                  <a:srgbClr val="F4F2E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feeder km rate per open km standard. Anonymous 100m CSV export.</a:t>
            </a:r>
            <a:endParaRPr lang="en-US" sz="96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2926259"/>
            <a:ext cx="2946350" cy="15405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791075" y="31146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16726E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116" y="3212009"/>
            <a:ext cx="150019" cy="13335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803725" y="3545384"/>
            <a:ext cx="2584400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spcAft>
                <a:spcPts val="450"/>
              </a:spcAft>
              <a:buNone/>
            </a:pPr>
            <a:r>
              <a:rPr lang="en-US" sz="1050" b="1" spc="1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Checkers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4803725" y="3765352"/>
            <a:ext cx="2584400" cy="52045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security / CCTV / solar</a:t>
            </a:r>
            <a:pPr indent="0" marL="0">
              <a:buNone/>
            </a:pPr>
            <a:r>
              <a:rPr lang="en-US" sz="960" dirty="0">
                <a:solidFill>
                  <a:srgbClr val="F4F2E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5 sites, allow DropBox bolt (86mm slot). No new build.</a:t>
            </a:r>
            <a:endParaRPr lang="en-US" sz="96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501" y="2926259"/>
            <a:ext cx="2946499" cy="154052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896225" y="311467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415C76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1532" y="3212009"/>
            <a:ext cx="166688" cy="13335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902476" y="3545384"/>
            <a:ext cx="2584549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spcAft>
                <a:spcPts val="450"/>
              </a:spcAft>
              <a:buNone/>
            </a:pPr>
            <a:r>
              <a:rPr lang="en-US" sz="1050" b="1" spc="1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Sixty60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7902476" y="3765352"/>
            <a:ext cx="2584549" cy="52045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Rider Cards</a:t>
            </a:r>
            <a:pPr indent="0" marL="0">
              <a:buNone/>
            </a:pPr>
            <a:r>
              <a:rPr lang="en-US" sz="960" dirty="0">
                <a:solidFill>
                  <a:srgbClr val="F4F2E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spare battery swap agreement, delivery km share for side-road fund.</a:t>
            </a:r>
            <a:endParaRPr lang="en-US" sz="960" dirty="0"/>
          </a:p>
        </p:txBody>
      </p:sp>
      <p:sp>
        <p:nvSpPr>
          <p:cNvPr id="19" name="Shape 11"/>
          <p:cNvSpPr/>
          <p:nvPr/>
        </p:nvSpPr>
        <p:spPr>
          <a:xfrm>
            <a:off x="1524000" y="4676775"/>
            <a:ext cx="9144000" cy="600075"/>
          </a:xfrm>
          <a:prstGeom prst="roundRect">
            <a:avLst>
              <a:gd name="adj" fmla="val 19048"/>
            </a:avLst>
          </a:prstGeom>
          <a:solidFill>
            <a:srgbClr val="F4F2ED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1714500" y="4883497"/>
            <a:ext cx="1047452" cy="1857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02A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OpenKM delivers: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2933402" y="4819204"/>
            <a:ext cx="5528816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202A3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HillClimber + 10 CiTiDriver • 5 DropBoxes • 200 TapCards • 2 charging cabinets • ai.studio dashboard</a:t>
            </a:r>
            <a:endParaRPr lang="en-US" sz="938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402" y="4872484"/>
            <a:ext cx="57150" cy="5715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933700" y="487680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5"/>
          <p:cNvSpPr txBox="1"/>
          <p:nvPr/>
        </p:nvSpPr>
        <p:spPr>
          <a:xfrm>
            <a:off x="8633668" y="4819204"/>
            <a:ext cx="1843832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202A3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Jobs training + open data audited</a:t>
            </a:r>
            <a:endParaRPr lang="en-US" sz="938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3668" y="4872484"/>
            <a:ext cx="57150" cy="5715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8629650" y="487680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OpenKM-Full-Package-—-Gordon's-Bay-Pilot</dc:title>
  <dc:subject>PptxGenJS Presentation</dc:subject>
  <dc:creator>PptxGenJS</dc:creator>
  <cp:lastModifiedBy>PptxGenJS</cp:lastModifiedBy>
  <cp:revision>1</cp:revision>
  <dcterms:created xsi:type="dcterms:W3CDTF">2026-08-17T03:42:37Z</dcterms:created>
  <dcterms:modified xsi:type="dcterms:W3CDTF">2026-08-17T03:42:37Z</dcterms:modified>
</cp:coreProperties>
</file>